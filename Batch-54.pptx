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DM Sans" pitchFamily="2" charset="0"/>
      <p:regular r:id="rId19"/>
    </p:embeddedFont>
    <p:embeddedFont>
      <p:font typeface="DM Sans Bold" charset="0"/>
      <p:regular r:id="rId20"/>
    </p:embeddedFont>
    <p:embeddedFont>
      <p:font typeface="Georgia Pro" panose="02040502050405020303" pitchFamily="18" charset="0"/>
      <p:regular r:id="rId21"/>
    </p:embeddedFont>
    <p:embeddedFont>
      <p:font typeface="Georgia Pro Bold" panose="02040802050405020203"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36"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4.xml"/><Relationship Id="rId7"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 Id="rId9" Type="http://schemas.openxmlformats.org/officeDocument/2006/relationships/slide" Target="slide1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docs.google.com/spreadsheets/d/1AtQCwth4pSGF6OrPgFUvaskzhcJrWES-/edit?usp=drive_link&amp;ouid=107366892230877033565&amp;rtpof=true&amp;sd=true"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code/gurajalalaasyapriya/improved-pipeline" TargetMode="External"/><Relationship Id="rId2" Type="http://schemas.openxmlformats.org/officeDocument/2006/relationships/hyperlink" Target="https://www.kaggle.com/code/gurajalalaasyapriya/classical-ml-pipeline"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academia.edu/download/76332505/731.pdf" TargetMode="External"/><Relationship Id="rId2" Type="http://schemas.openxmlformats.org/officeDocument/2006/relationships/hyperlink" Target="https://doi.org/10.1109/I2CT.2018.8529755" TargetMode="External"/><Relationship Id="rId1" Type="http://schemas.openxmlformats.org/officeDocument/2006/relationships/slideLayout" Target="../slideLayouts/slideLayout7.xml"/><Relationship Id="rId6" Type="http://schemas.openxmlformats.org/officeDocument/2006/relationships/hyperlink" Target="https://doi.org/10.17632/7ghdbftp54.1" TargetMode="External"/><Relationship Id="rId5" Type="http://schemas.openxmlformats.org/officeDocument/2006/relationships/hyperlink" Target="https://www.academia.edu/49045897/MULTIPLE_PLANT_LEAF_DISEASE_CLASSIFICATION_USING_DENSENET_121_ARCHITECTURE" TargetMode="External"/><Relationship Id="rId4" Type="http://schemas.openxmlformats.org/officeDocument/2006/relationships/hyperlink" Target="https://doi.org/10.1007/s42044-020-00057-z"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4624"/>
        </a:solidFill>
        <a:effectLst/>
      </p:bgPr>
    </p:bg>
    <p:spTree>
      <p:nvGrpSpPr>
        <p:cNvPr id="1" name=""/>
        <p:cNvGrpSpPr/>
        <p:nvPr/>
      </p:nvGrpSpPr>
      <p:grpSpPr>
        <a:xfrm>
          <a:off x="0" y="0"/>
          <a:ext cx="0" cy="0"/>
          <a:chOff x="0" y="0"/>
          <a:chExt cx="0" cy="0"/>
        </a:xfrm>
      </p:grpSpPr>
      <p:grpSp>
        <p:nvGrpSpPr>
          <p:cNvPr id="2" name="Group 2"/>
          <p:cNvGrpSpPr/>
          <p:nvPr/>
        </p:nvGrpSpPr>
        <p:grpSpPr>
          <a:xfrm>
            <a:off x="19050" y="0"/>
            <a:ext cx="19132470" cy="10287000"/>
            <a:chOff x="0" y="0"/>
            <a:chExt cx="2203456" cy="1184737"/>
          </a:xfrm>
        </p:grpSpPr>
        <p:sp>
          <p:nvSpPr>
            <p:cNvPr id="3" name="Freeform 3"/>
            <p:cNvSpPr/>
            <p:nvPr/>
          </p:nvSpPr>
          <p:spPr>
            <a:xfrm>
              <a:off x="0" y="0"/>
              <a:ext cx="2203456" cy="1184737"/>
            </a:xfrm>
            <a:custGeom>
              <a:avLst/>
              <a:gdLst/>
              <a:ahLst/>
              <a:cxnLst/>
              <a:rect l="l" t="t" r="r" b="b"/>
              <a:pathLst>
                <a:path w="2203456" h="1184737">
                  <a:moveTo>
                    <a:pt x="0" y="0"/>
                  </a:moveTo>
                  <a:lnTo>
                    <a:pt x="2203456" y="0"/>
                  </a:lnTo>
                  <a:lnTo>
                    <a:pt x="2203456" y="1184737"/>
                  </a:lnTo>
                  <a:lnTo>
                    <a:pt x="0" y="1184737"/>
                  </a:lnTo>
                  <a:close/>
                </a:path>
              </a:pathLst>
            </a:custGeom>
            <a:blipFill>
              <a:blip r:embed="rId2">
                <a:alphaModFix amt="53000"/>
              </a:blip>
              <a:stretch>
                <a:fillRect t="-57197" b="-57197"/>
              </a:stretch>
            </a:blipFill>
          </p:spPr>
        </p:sp>
      </p:grpSp>
      <p:grpSp>
        <p:nvGrpSpPr>
          <p:cNvPr id="4" name="Group 4"/>
          <p:cNvGrpSpPr/>
          <p:nvPr/>
        </p:nvGrpSpPr>
        <p:grpSpPr>
          <a:xfrm>
            <a:off x="1570598" y="2968940"/>
            <a:ext cx="15146804" cy="4060990"/>
            <a:chOff x="0" y="0"/>
            <a:chExt cx="20195739" cy="5414653"/>
          </a:xfrm>
        </p:grpSpPr>
        <p:sp>
          <p:nvSpPr>
            <p:cNvPr id="5" name="TextBox 5"/>
            <p:cNvSpPr txBox="1"/>
            <p:nvPr/>
          </p:nvSpPr>
          <p:spPr>
            <a:xfrm>
              <a:off x="0" y="114300"/>
              <a:ext cx="20195739" cy="4634668"/>
            </a:xfrm>
            <a:prstGeom prst="rect">
              <a:avLst/>
            </a:prstGeom>
          </p:spPr>
          <p:txBody>
            <a:bodyPr lIns="0" tIns="0" rIns="0" bIns="0" rtlCol="0" anchor="t">
              <a:spAutoFit/>
            </a:bodyPr>
            <a:lstStyle/>
            <a:p>
              <a:pPr algn="ctr">
                <a:lnSpc>
                  <a:spcPts val="6725"/>
                </a:lnSpc>
              </a:pPr>
              <a:r>
                <a:rPr lang="en-US" sz="6725" b="1" dirty="0">
                  <a:solidFill>
                    <a:srgbClr val="FFDE59"/>
                  </a:solidFill>
                  <a:latin typeface="Georgia Pro Bold"/>
                  <a:ea typeface="Georgia Pro Bold"/>
                  <a:cs typeface="Georgia Pro Bold"/>
                  <a:sym typeface="Georgia Pro Bold"/>
                </a:rPr>
                <a:t>AI-Based Detection of Mango Leaf Diseases and Nutrient Deficiencies</a:t>
              </a:r>
            </a:p>
            <a:p>
              <a:pPr marL="0" lvl="0" indent="0" algn="ctr">
                <a:lnSpc>
                  <a:spcPts val="6725"/>
                </a:lnSpc>
              </a:pPr>
              <a:endParaRPr lang="en-US" sz="6725" b="1" dirty="0">
                <a:solidFill>
                  <a:srgbClr val="FFDE59"/>
                </a:solidFill>
                <a:latin typeface="Georgia Pro Bold"/>
                <a:ea typeface="Georgia Pro Bold"/>
                <a:cs typeface="Georgia Pro Bold"/>
                <a:sym typeface="Georgia Pro Bold"/>
              </a:endParaRPr>
            </a:p>
          </p:txBody>
        </p:sp>
        <p:sp>
          <p:nvSpPr>
            <p:cNvPr id="6" name="TextBox 6"/>
            <p:cNvSpPr txBox="1"/>
            <p:nvPr/>
          </p:nvSpPr>
          <p:spPr>
            <a:xfrm>
              <a:off x="0" y="4931921"/>
              <a:ext cx="20174998" cy="482732"/>
            </a:xfrm>
            <a:prstGeom prst="rect">
              <a:avLst/>
            </a:prstGeom>
          </p:spPr>
          <p:txBody>
            <a:bodyPr lIns="0" tIns="0" rIns="0" bIns="0" rtlCol="0" anchor="t">
              <a:spAutoFit/>
            </a:bodyPr>
            <a:lstStyle/>
            <a:p>
              <a:pPr marL="0" lvl="0" indent="0" algn="ctr">
                <a:lnSpc>
                  <a:spcPts val="3013"/>
                </a:lnSpc>
              </a:pPr>
              <a:endParaRPr/>
            </a:p>
          </p:txBody>
        </p:sp>
      </p:grpSp>
      <p:sp>
        <p:nvSpPr>
          <p:cNvPr id="7" name="Freeform 7"/>
          <p:cNvSpPr/>
          <p:nvPr/>
        </p:nvSpPr>
        <p:spPr>
          <a:xfrm>
            <a:off x="0" y="0"/>
            <a:ext cx="3678845" cy="2146735"/>
          </a:xfrm>
          <a:custGeom>
            <a:avLst/>
            <a:gdLst/>
            <a:ahLst/>
            <a:cxnLst/>
            <a:rect l="l" t="t" r="r" b="b"/>
            <a:pathLst>
              <a:path w="3678845" h="2146735">
                <a:moveTo>
                  <a:pt x="0" y="0"/>
                </a:moveTo>
                <a:lnTo>
                  <a:pt x="3678845" y="0"/>
                </a:lnTo>
                <a:lnTo>
                  <a:pt x="3678845" y="2146735"/>
                </a:lnTo>
                <a:lnTo>
                  <a:pt x="0" y="2146735"/>
                </a:lnTo>
                <a:lnTo>
                  <a:pt x="0" y="0"/>
                </a:lnTo>
                <a:close/>
              </a:path>
            </a:pathLst>
          </a:custGeom>
          <a:blipFill>
            <a:blip r:embed="rId3"/>
            <a:stretch>
              <a:fillRect/>
            </a:stretch>
          </a:blipFill>
        </p:spPr>
      </p:sp>
      <p:grpSp>
        <p:nvGrpSpPr>
          <p:cNvPr id="8" name="Group 8"/>
          <p:cNvGrpSpPr/>
          <p:nvPr/>
        </p:nvGrpSpPr>
        <p:grpSpPr>
          <a:xfrm>
            <a:off x="440977" y="7854609"/>
            <a:ext cx="6057404" cy="2057514"/>
            <a:chOff x="0" y="0"/>
            <a:chExt cx="8076538" cy="2743351"/>
          </a:xfrm>
        </p:grpSpPr>
        <p:sp>
          <p:nvSpPr>
            <p:cNvPr id="9" name="TextBox 9"/>
            <p:cNvSpPr txBox="1"/>
            <p:nvPr/>
          </p:nvSpPr>
          <p:spPr>
            <a:xfrm>
              <a:off x="0" y="629077"/>
              <a:ext cx="8076538" cy="2114274"/>
            </a:xfrm>
            <a:prstGeom prst="rect">
              <a:avLst/>
            </a:prstGeom>
          </p:spPr>
          <p:txBody>
            <a:bodyPr lIns="0" tIns="0" rIns="0" bIns="0" rtlCol="0" anchor="t">
              <a:spAutoFit/>
            </a:bodyPr>
            <a:lstStyle/>
            <a:p>
              <a:pPr marL="487532" lvl="1" indent="-243766" algn="l">
                <a:lnSpc>
                  <a:spcPts val="3161"/>
                </a:lnSpc>
                <a:buFont typeface="Arial"/>
                <a:buChar char="•"/>
              </a:pPr>
              <a:r>
                <a:rPr lang="en-US" sz="2258">
                  <a:solidFill>
                    <a:srgbClr val="FFFFFF"/>
                  </a:solidFill>
                  <a:latin typeface="Georgia Pro"/>
                  <a:ea typeface="Georgia Pro"/>
                  <a:cs typeface="Georgia Pro"/>
                  <a:sym typeface="Georgia Pro"/>
                </a:rPr>
                <a:t>K. Teena Reddy - 23102C010012</a:t>
              </a:r>
            </a:p>
            <a:p>
              <a:pPr marL="487532" lvl="1" indent="-243766" algn="l">
                <a:lnSpc>
                  <a:spcPts val="3161"/>
                </a:lnSpc>
                <a:buFont typeface="Arial"/>
                <a:buChar char="•"/>
              </a:pPr>
              <a:r>
                <a:rPr lang="en-US" sz="2258">
                  <a:solidFill>
                    <a:srgbClr val="FFFFFF"/>
                  </a:solidFill>
                  <a:latin typeface="Georgia Pro"/>
                  <a:ea typeface="Georgia Pro"/>
                  <a:cs typeface="Georgia Pro"/>
                  <a:sym typeface="Georgia Pro"/>
                </a:rPr>
                <a:t>G. Laasyapriya - 23102C010036</a:t>
              </a:r>
            </a:p>
            <a:p>
              <a:pPr marL="487532" lvl="1" indent="-243766" algn="l">
                <a:lnSpc>
                  <a:spcPts val="3161"/>
                </a:lnSpc>
                <a:buFont typeface="Arial"/>
                <a:buChar char="•"/>
              </a:pPr>
              <a:r>
                <a:rPr lang="en-US" sz="2258">
                  <a:solidFill>
                    <a:srgbClr val="FFFFFF"/>
                  </a:solidFill>
                  <a:latin typeface="Georgia Pro"/>
                  <a:ea typeface="Georgia Pro"/>
                  <a:cs typeface="Georgia Pro"/>
                  <a:sym typeface="Georgia Pro"/>
                </a:rPr>
                <a:t>K. Srivalli - 23102C010097</a:t>
              </a:r>
            </a:p>
            <a:p>
              <a:pPr algn="l">
                <a:lnSpc>
                  <a:spcPts val="3161"/>
                </a:lnSpc>
              </a:pPr>
              <a:endParaRPr lang="en-US" sz="2258">
                <a:solidFill>
                  <a:srgbClr val="FFFFFF"/>
                </a:solidFill>
                <a:latin typeface="Georgia Pro"/>
                <a:ea typeface="Georgia Pro"/>
                <a:cs typeface="Georgia Pro"/>
                <a:sym typeface="Georgia Pro"/>
              </a:endParaRPr>
            </a:p>
          </p:txBody>
        </p:sp>
        <p:sp>
          <p:nvSpPr>
            <p:cNvPr id="10" name="TextBox 10"/>
            <p:cNvSpPr txBox="1"/>
            <p:nvPr/>
          </p:nvSpPr>
          <p:spPr>
            <a:xfrm>
              <a:off x="0" y="-47625"/>
              <a:ext cx="8076538" cy="504549"/>
            </a:xfrm>
            <a:prstGeom prst="rect">
              <a:avLst/>
            </a:prstGeom>
          </p:spPr>
          <p:txBody>
            <a:bodyPr lIns="0" tIns="0" rIns="0" bIns="0" rtlCol="0" anchor="t">
              <a:spAutoFit/>
            </a:bodyPr>
            <a:lstStyle/>
            <a:p>
              <a:pPr marL="0" lvl="0" indent="0" algn="l">
                <a:lnSpc>
                  <a:spcPts val="3161"/>
                </a:lnSpc>
                <a:spcBef>
                  <a:spcPct val="0"/>
                </a:spcBef>
              </a:pPr>
              <a:r>
                <a:rPr lang="en-US" sz="2258" b="1">
                  <a:solidFill>
                    <a:srgbClr val="FFFFFF"/>
                  </a:solidFill>
                  <a:latin typeface="DM Sans Bold"/>
                  <a:ea typeface="DM Sans Bold"/>
                  <a:cs typeface="DM Sans Bold"/>
                  <a:sym typeface="DM Sans Bold"/>
                </a:rPr>
                <a:t>PRESENTED BY</a:t>
              </a:r>
            </a:p>
          </p:txBody>
        </p:sp>
      </p:grpSp>
      <p:sp>
        <p:nvSpPr>
          <p:cNvPr id="11" name="TextBox 11"/>
          <p:cNvSpPr txBox="1"/>
          <p:nvPr/>
        </p:nvSpPr>
        <p:spPr>
          <a:xfrm>
            <a:off x="3678845" y="184315"/>
            <a:ext cx="14453629" cy="2514236"/>
          </a:xfrm>
          <a:prstGeom prst="rect">
            <a:avLst/>
          </a:prstGeom>
        </p:spPr>
        <p:txBody>
          <a:bodyPr lIns="0" tIns="0" rIns="0" bIns="0" rtlCol="0" anchor="t">
            <a:spAutoFit/>
          </a:bodyPr>
          <a:lstStyle/>
          <a:p>
            <a:pPr algn="ctr">
              <a:lnSpc>
                <a:spcPts val="4918"/>
              </a:lnSpc>
            </a:pPr>
            <a:r>
              <a:rPr lang="en-US" sz="4471" b="1">
                <a:solidFill>
                  <a:srgbClr val="FFFFFF"/>
                </a:solidFill>
                <a:latin typeface="Georgia Pro Bold"/>
                <a:ea typeface="Georgia Pro Bold"/>
                <a:cs typeface="Georgia Pro Bold"/>
                <a:sym typeface="Georgia Pro Bold"/>
              </a:rPr>
              <a:t>Mohan Babu University</a:t>
            </a:r>
          </a:p>
          <a:p>
            <a:pPr algn="ctr">
              <a:lnSpc>
                <a:spcPts val="4918"/>
              </a:lnSpc>
            </a:pPr>
            <a:r>
              <a:rPr lang="en-US" sz="4471" b="1">
                <a:solidFill>
                  <a:srgbClr val="FFFFFF"/>
                </a:solidFill>
                <a:latin typeface="Georgia Pro Bold"/>
                <a:ea typeface="Georgia Pro Bold"/>
                <a:cs typeface="Georgia Pro Bold"/>
                <a:sym typeface="Georgia Pro Bold"/>
              </a:rPr>
              <a:t> Sree Sainath Nagar, Tirupati – 517102</a:t>
            </a:r>
          </a:p>
          <a:p>
            <a:pPr algn="ctr">
              <a:lnSpc>
                <a:spcPts val="4918"/>
              </a:lnSpc>
            </a:pPr>
            <a:r>
              <a:rPr lang="en-US" sz="4471" b="1">
                <a:solidFill>
                  <a:srgbClr val="FFFFFF"/>
                </a:solidFill>
                <a:latin typeface="Georgia Pro Bold"/>
                <a:ea typeface="Georgia Pro Bold"/>
                <a:cs typeface="Georgia Pro Bold"/>
                <a:sym typeface="Georgia Pro Bold"/>
              </a:rPr>
              <a:t> Department Of Computer Applications</a:t>
            </a:r>
          </a:p>
          <a:p>
            <a:pPr algn="ctr">
              <a:lnSpc>
                <a:spcPts val="4918"/>
              </a:lnSpc>
              <a:spcBef>
                <a:spcPct val="0"/>
              </a:spcBef>
            </a:pPr>
            <a:endParaRPr lang="en-US" sz="4471" b="1">
              <a:solidFill>
                <a:srgbClr val="FFFFFF"/>
              </a:solidFill>
              <a:latin typeface="Georgia Pro Bold"/>
              <a:ea typeface="Georgia Pro Bold"/>
              <a:cs typeface="Georgia Pro Bold"/>
              <a:sym typeface="Georgia Pro Bold"/>
            </a:endParaRPr>
          </a:p>
        </p:txBody>
      </p:sp>
      <p:sp>
        <p:nvSpPr>
          <p:cNvPr id="12" name="TextBox 12"/>
          <p:cNvSpPr txBox="1"/>
          <p:nvPr/>
        </p:nvSpPr>
        <p:spPr>
          <a:xfrm>
            <a:off x="459034" y="6186311"/>
            <a:ext cx="17369931" cy="1486170"/>
          </a:xfrm>
          <a:prstGeom prst="rect">
            <a:avLst/>
          </a:prstGeom>
        </p:spPr>
        <p:txBody>
          <a:bodyPr lIns="0" tIns="0" rIns="0" bIns="0" rtlCol="0" anchor="t">
            <a:spAutoFit/>
          </a:bodyPr>
          <a:lstStyle/>
          <a:p>
            <a:pPr algn="ctr">
              <a:lnSpc>
                <a:spcPts val="5798"/>
              </a:lnSpc>
            </a:pPr>
            <a:r>
              <a:rPr lang="en-US" sz="5271" b="1">
                <a:solidFill>
                  <a:srgbClr val="FFFFFF"/>
                </a:solidFill>
                <a:latin typeface="Georgia Pro Bold"/>
                <a:ea typeface="Georgia Pro Bold"/>
                <a:cs typeface="Georgia Pro Bold"/>
                <a:sym typeface="Georgia Pro Bold"/>
              </a:rPr>
              <a:t>Project Review-1</a:t>
            </a:r>
          </a:p>
          <a:p>
            <a:pPr algn="ctr">
              <a:lnSpc>
                <a:spcPts val="5798"/>
              </a:lnSpc>
              <a:spcBef>
                <a:spcPct val="0"/>
              </a:spcBef>
            </a:pPr>
            <a:endParaRPr lang="en-US" sz="5271" b="1">
              <a:solidFill>
                <a:srgbClr val="FFFFFF"/>
              </a:solidFill>
              <a:latin typeface="Georgia Pro Bold"/>
              <a:ea typeface="Georgia Pro Bold"/>
              <a:cs typeface="Georgia Pro Bold"/>
              <a:sym typeface="Georgia Pro Bold"/>
            </a:endParaRPr>
          </a:p>
        </p:txBody>
      </p:sp>
      <p:sp>
        <p:nvSpPr>
          <p:cNvPr id="13" name="TextBox 13"/>
          <p:cNvSpPr txBox="1"/>
          <p:nvPr/>
        </p:nvSpPr>
        <p:spPr>
          <a:xfrm>
            <a:off x="14201477" y="8245180"/>
            <a:ext cx="3057823" cy="1285897"/>
          </a:xfrm>
          <a:prstGeom prst="rect">
            <a:avLst/>
          </a:prstGeom>
        </p:spPr>
        <p:txBody>
          <a:bodyPr lIns="0" tIns="0" rIns="0" bIns="0" rtlCol="0" anchor="t">
            <a:spAutoFit/>
          </a:bodyPr>
          <a:lstStyle/>
          <a:p>
            <a:pPr algn="ctr">
              <a:lnSpc>
                <a:spcPts val="3301"/>
              </a:lnSpc>
              <a:spcBef>
                <a:spcPct val="0"/>
              </a:spcBef>
            </a:pPr>
            <a:r>
              <a:rPr lang="en-US" sz="3001" b="1">
                <a:solidFill>
                  <a:srgbClr val="FFFFFF"/>
                </a:solidFill>
                <a:latin typeface="Georgia Pro Bold"/>
                <a:ea typeface="Georgia Pro Bold"/>
                <a:cs typeface="Georgia Pro Bold"/>
                <a:sym typeface="Georgia Pro Bold"/>
              </a:rPr>
              <a:t>Project Guide:</a:t>
            </a:r>
          </a:p>
          <a:p>
            <a:pPr algn="ctr">
              <a:lnSpc>
                <a:spcPts val="3301"/>
              </a:lnSpc>
              <a:spcBef>
                <a:spcPct val="0"/>
              </a:spcBef>
            </a:pPr>
            <a:r>
              <a:rPr lang="en-US" sz="3001">
                <a:solidFill>
                  <a:srgbClr val="FFFFFF"/>
                </a:solidFill>
                <a:latin typeface="Georgia Pro"/>
                <a:ea typeface="Georgia Pro"/>
                <a:cs typeface="Georgia Pro"/>
                <a:sym typeface="Georgia Pro"/>
              </a:rPr>
              <a:t>Mr. S. Girinath</a:t>
            </a:r>
          </a:p>
          <a:p>
            <a:pPr algn="ctr">
              <a:lnSpc>
                <a:spcPts val="3301"/>
              </a:lnSpc>
              <a:spcBef>
                <a:spcPct val="0"/>
              </a:spcBef>
            </a:pPr>
            <a:r>
              <a:rPr lang="en-US" sz="3001">
                <a:solidFill>
                  <a:srgbClr val="FFFFFF"/>
                </a:solidFill>
                <a:latin typeface="Georgia Pro"/>
                <a:ea typeface="Georgia Pro"/>
                <a:cs typeface="Georgia Pro"/>
                <a:sym typeface="Georgia Pro"/>
              </a:rPr>
              <a:t>Department of CA</a:t>
            </a:r>
          </a:p>
        </p:txBody>
      </p:sp>
      <p:sp>
        <p:nvSpPr>
          <p:cNvPr id="14" name="TextBox 14"/>
          <p:cNvSpPr txBox="1"/>
          <p:nvPr/>
        </p:nvSpPr>
        <p:spPr>
          <a:xfrm>
            <a:off x="6632079" y="7116727"/>
            <a:ext cx="5023842" cy="692162"/>
          </a:xfrm>
          <a:prstGeom prst="rect">
            <a:avLst/>
          </a:prstGeom>
        </p:spPr>
        <p:txBody>
          <a:bodyPr lIns="0" tIns="0" rIns="0" bIns="0" rtlCol="0" anchor="t">
            <a:spAutoFit/>
          </a:bodyPr>
          <a:lstStyle/>
          <a:p>
            <a:pPr algn="ctr">
              <a:lnSpc>
                <a:spcPts val="5125"/>
              </a:lnSpc>
              <a:spcBef>
                <a:spcPct val="0"/>
              </a:spcBef>
            </a:pPr>
            <a:r>
              <a:rPr lang="en-US" sz="5125">
                <a:solidFill>
                  <a:srgbClr val="FFFFFF"/>
                </a:solidFill>
                <a:latin typeface="Georgia Pro"/>
                <a:ea typeface="Georgia Pro"/>
                <a:cs typeface="Georgia Pro"/>
                <a:sym typeface="Georgia Pro"/>
              </a:rPr>
              <a:t>SIH ID: SIH1638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57648" y="0"/>
            <a:ext cx="6730352" cy="10287000"/>
            <a:chOff x="0" y="0"/>
            <a:chExt cx="1042708" cy="1593725"/>
          </a:xfrm>
        </p:grpSpPr>
        <p:sp>
          <p:nvSpPr>
            <p:cNvPr id="3" name="Freeform 3"/>
            <p:cNvSpPr/>
            <p:nvPr/>
          </p:nvSpPr>
          <p:spPr>
            <a:xfrm>
              <a:off x="0" y="0"/>
              <a:ext cx="1042708" cy="1593725"/>
            </a:xfrm>
            <a:custGeom>
              <a:avLst/>
              <a:gdLst/>
              <a:ahLst/>
              <a:cxnLst/>
              <a:rect l="l" t="t" r="r" b="b"/>
              <a:pathLst>
                <a:path w="1042708" h="1593725">
                  <a:moveTo>
                    <a:pt x="0" y="0"/>
                  </a:moveTo>
                  <a:lnTo>
                    <a:pt x="1042708" y="0"/>
                  </a:lnTo>
                  <a:lnTo>
                    <a:pt x="1042708" y="1593725"/>
                  </a:lnTo>
                  <a:lnTo>
                    <a:pt x="0" y="1593725"/>
                  </a:lnTo>
                  <a:close/>
                </a:path>
              </a:pathLst>
            </a:custGeom>
            <a:blipFill>
              <a:blip r:embed="rId2"/>
              <a:stretch>
                <a:fillRect l="-11137" r="-11137"/>
              </a:stretch>
            </a:blipFill>
          </p:spPr>
        </p:sp>
      </p:grpSp>
      <p:sp>
        <p:nvSpPr>
          <p:cNvPr id="4" name="TextBox 4"/>
          <p:cNvSpPr txBox="1"/>
          <p:nvPr/>
        </p:nvSpPr>
        <p:spPr>
          <a:xfrm>
            <a:off x="666750" y="733425"/>
            <a:ext cx="9226802" cy="1149353"/>
          </a:xfrm>
          <a:prstGeom prst="rect">
            <a:avLst/>
          </a:prstGeom>
        </p:spPr>
        <p:txBody>
          <a:bodyPr lIns="0" tIns="0" rIns="0" bIns="0" rtlCol="0" anchor="t">
            <a:spAutoFit/>
          </a:bodyPr>
          <a:lstStyle/>
          <a:p>
            <a:pPr marL="0" lvl="0" indent="0" algn="l">
              <a:lnSpc>
                <a:spcPts val="8800"/>
              </a:lnSpc>
            </a:pPr>
            <a:r>
              <a:rPr lang="en-US" sz="8000" b="1">
                <a:solidFill>
                  <a:srgbClr val="134624"/>
                </a:solidFill>
                <a:latin typeface="Georgia Pro Bold"/>
                <a:ea typeface="Georgia Pro Bold"/>
                <a:cs typeface="Georgia Pro Bold"/>
                <a:sym typeface="Georgia Pro Bold"/>
              </a:rPr>
              <a:t>Abstract</a:t>
            </a:r>
          </a:p>
        </p:txBody>
      </p:sp>
      <p:sp>
        <p:nvSpPr>
          <p:cNvPr id="5" name="TextBox 5"/>
          <p:cNvSpPr txBox="1"/>
          <p:nvPr/>
        </p:nvSpPr>
        <p:spPr>
          <a:xfrm>
            <a:off x="666750" y="2052922"/>
            <a:ext cx="10276093" cy="8668385"/>
          </a:xfrm>
          <a:prstGeom prst="rect">
            <a:avLst/>
          </a:prstGeom>
        </p:spPr>
        <p:txBody>
          <a:bodyPr lIns="0" tIns="0" rIns="0" bIns="0" rtlCol="0" anchor="t">
            <a:spAutoFit/>
          </a:bodyPr>
          <a:lstStyle/>
          <a:p>
            <a:pPr algn="just">
              <a:lnSpc>
                <a:spcPts val="3639"/>
              </a:lnSpc>
            </a:pPr>
            <a:r>
              <a:rPr lang="en-US" sz="2599">
                <a:solidFill>
                  <a:srgbClr val="134624"/>
                </a:solidFill>
                <a:latin typeface="DM Sans"/>
                <a:ea typeface="DM Sans"/>
                <a:cs typeface="DM Sans"/>
                <a:sym typeface="DM Sans"/>
              </a:rPr>
              <a:t>Mango farming often suffers yield losses due to leaf diseases and nutrient deficiencies, usually detected only after serious damage. Early and automated detection can help farmers act promptly, reduce losses, and improve crop quality. This project proposes a machine learning-based system using image processing to detect and classify diseases and nutrient deficiencies in mango leaves. Leaf images are pre-processed through resizing, normalization, noise reduction, and colour space conversion to manage variations in lighting and field conditions. Segmentation separates leaves from the background, and key features including colour histograms, texture features (GLCM and LBP), and shape descriptors are extracted. These features are analysed with machine learning algorithms such as Random Forest, SVM, and KNN for accurate classification. Later, deep learning models like DenseNet-121 with transfer learning will be explored. Unlike manual diagnosis, this approach is faster, reliable, and requires no expert knowledge, offering farmers a cost-effective and efficient tool for early detection.</a:t>
            </a:r>
          </a:p>
          <a:p>
            <a:pPr marL="0" lvl="0" indent="0" algn="just">
              <a:lnSpc>
                <a:spcPts val="3639"/>
              </a:lnSpc>
            </a:pPr>
            <a:endParaRPr lang="en-US" sz="2599">
              <a:solidFill>
                <a:srgbClr val="134624"/>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60239" y="397070"/>
            <a:ext cx="6583561" cy="1513876"/>
          </a:xfrm>
          <a:prstGeom prst="rect">
            <a:avLst/>
          </a:prstGeom>
        </p:spPr>
        <p:txBody>
          <a:bodyPr wrap="square" lIns="0" tIns="0" rIns="0" bIns="0" rtlCol="0" anchor="t">
            <a:spAutoFit/>
          </a:bodyPr>
          <a:lstStyle/>
          <a:p>
            <a:pPr algn="ctr">
              <a:lnSpc>
                <a:spcPts val="12880"/>
              </a:lnSpc>
            </a:pPr>
            <a:r>
              <a:rPr lang="en-US" sz="9200" b="1" dirty="0">
                <a:solidFill>
                  <a:srgbClr val="134624"/>
                </a:solidFill>
                <a:latin typeface="Georgia Pro Bold"/>
                <a:ea typeface="Georgia Pro Bold"/>
                <a:cs typeface="Georgia Pro Bold"/>
                <a:sym typeface="Georgia Pro Bold"/>
              </a:rPr>
              <a:t>Contents</a:t>
            </a:r>
          </a:p>
        </p:txBody>
      </p:sp>
      <p:sp>
        <p:nvSpPr>
          <p:cNvPr id="3" name="TextBox 3"/>
          <p:cNvSpPr txBox="1"/>
          <p:nvPr/>
        </p:nvSpPr>
        <p:spPr>
          <a:xfrm>
            <a:off x="685800" y="1851537"/>
            <a:ext cx="17154531" cy="8026172"/>
          </a:xfrm>
          <a:prstGeom prst="rect">
            <a:avLst/>
          </a:prstGeom>
        </p:spPr>
        <p:txBody>
          <a:bodyPr lIns="0" tIns="0" rIns="0" bIns="0" rtlCol="0" anchor="t">
            <a:spAutoFit/>
          </a:bodyPr>
          <a:lstStyle/>
          <a:p>
            <a:pPr marL="539751" lvl="1" algn="l">
              <a:lnSpc>
                <a:spcPts val="7000"/>
              </a:lnSpc>
            </a:pPr>
            <a:endParaRPr lang="en-US" sz="5000" dirty="0">
              <a:solidFill>
                <a:srgbClr val="000000"/>
              </a:solidFill>
              <a:latin typeface="Georgia Pro"/>
              <a:ea typeface="Georgia Pro"/>
              <a:cs typeface="Georgia Pro"/>
              <a:sym typeface="Georgia Pro"/>
              <a:hlinkClick r:id="rId2" action="ppaction://hlinksldjump"/>
            </a:endParaRP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2" action="ppaction://hlinksldjump"/>
              </a:rPr>
              <a:t>Abstract</a:t>
            </a:r>
            <a:endParaRPr lang="en-US" sz="5000" dirty="0">
              <a:solidFill>
                <a:srgbClr val="000000"/>
              </a:solidFill>
              <a:latin typeface="Georgia Pro"/>
              <a:ea typeface="Georgia Pro"/>
              <a:cs typeface="Georgia Pro"/>
              <a:sym typeface="Georgia Pro"/>
              <a:hlinkClick r:id="rId3" action="ppaction://hlinksldjump"/>
            </a:endParaRP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3" action="ppaction://hlinksldjump"/>
              </a:rPr>
              <a:t>Introduction</a:t>
            </a: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4" action="ppaction://hlinksldjump"/>
              </a:rPr>
              <a:t>Review of Literature</a:t>
            </a: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5" action="ppaction://hlinksldjump"/>
              </a:rPr>
              <a:t>Proposed Methodology</a:t>
            </a:r>
            <a:endParaRPr lang="en-US" sz="5000" dirty="0">
              <a:solidFill>
                <a:srgbClr val="000000"/>
              </a:solidFill>
              <a:latin typeface="Georgia Pro"/>
              <a:ea typeface="Georgia Pro"/>
              <a:cs typeface="Georgia Pro"/>
              <a:sym typeface="Georgia Pro"/>
            </a:endParaRP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6" action="ppaction://hlinksldjump"/>
              </a:rPr>
              <a:t>Proposed System</a:t>
            </a: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7" action="ppaction://hlinksldjump"/>
              </a:rPr>
              <a:t>Results(UML diagrams)</a:t>
            </a: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8" action="ppaction://hlinksldjump"/>
              </a:rPr>
              <a:t>Conclusion</a:t>
            </a:r>
          </a:p>
          <a:p>
            <a:pPr marL="1079501" lvl="1" indent="-539750" algn="l">
              <a:lnSpc>
                <a:spcPts val="7000"/>
              </a:lnSpc>
              <a:buFont typeface="Arial"/>
              <a:buChar char="•"/>
            </a:pPr>
            <a:r>
              <a:rPr lang="en-US" sz="5000" dirty="0">
                <a:solidFill>
                  <a:srgbClr val="000000"/>
                </a:solidFill>
                <a:latin typeface="Georgia Pro"/>
                <a:ea typeface="Georgia Pro"/>
                <a:cs typeface="Georgia Pro"/>
                <a:sym typeface="Georgia Pro"/>
                <a:hlinkClick r:id="rId9" action="ppaction://hlinksldjump"/>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5103" b="-5103"/>
              </a:stretch>
            </a:blipFill>
          </p:spPr>
        </p:sp>
      </p:grpSp>
      <p:grpSp>
        <p:nvGrpSpPr>
          <p:cNvPr id="4" name="Group 4"/>
          <p:cNvGrpSpPr/>
          <p:nvPr/>
        </p:nvGrpSpPr>
        <p:grpSpPr>
          <a:xfrm>
            <a:off x="666750" y="666750"/>
            <a:ext cx="9865959" cy="8155237"/>
            <a:chOff x="0" y="0"/>
            <a:chExt cx="13154612" cy="10873649"/>
          </a:xfrm>
        </p:grpSpPr>
        <p:sp>
          <p:nvSpPr>
            <p:cNvPr id="5" name="TextBox 5"/>
            <p:cNvSpPr txBox="1"/>
            <p:nvPr/>
          </p:nvSpPr>
          <p:spPr>
            <a:xfrm>
              <a:off x="0" y="66675"/>
              <a:ext cx="13154612" cy="1624581"/>
            </a:xfrm>
            <a:prstGeom prst="rect">
              <a:avLst/>
            </a:prstGeom>
          </p:spPr>
          <p:txBody>
            <a:bodyPr lIns="0" tIns="0" rIns="0" bIns="0" rtlCol="0" anchor="t">
              <a:spAutoFit/>
            </a:bodyPr>
            <a:lstStyle/>
            <a:p>
              <a:pPr marL="0" lvl="0" indent="0" algn="l">
                <a:lnSpc>
                  <a:spcPts val="9215"/>
                </a:lnSpc>
              </a:pPr>
              <a:r>
                <a:rPr lang="en-US" sz="8377" b="1">
                  <a:solidFill>
                    <a:srgbClr val="134624"/>
                  </a:solidFill>
                  <a:latin typeface="Georgia Pro Bold"/>
                  <a:ea typeface="Georgia Pro Bold"/>
                  <a:cs typeface="Georgia Pro Bold"/>
                  <a:sym typeface="Georgia Pro Bold"/>
                </a:rPr>
                <a:t>Introduction</a:t>
              </a:r>
            </a:p>
          </p:txBody>
        </p:sp>
        <p:sp>
          <p:nvSpPr>
            <p:cNvPr id="6" name="TextBox 6"/>
            <p:cNvSpPr txBox="1"/>
            <p:nvPr/>
          </p:nvSpPr>
          <p:spPr>
            <a:xfrm>
              <a:off x="0" y="2120985"/>
              <a:ext cx="13154612" cy="8752663"/>
            </a:xfrm>
            <a:prstGeom prst="rect">
              <a:avLst/>
            </a:prstGeom>
          </p:spPr>
          <p:txBody>
            <a:bodyPr lIns="0" tIns="0" rIns="0" bIns="0" rtlCol="0" anchor="t">
              <a:spAutoFit/>
            </a:bodyPr>
            <a:lstStyle/>
            <a:p>
              <a:pPr marL="733836" lvl="1" indent="-366918" algn="l">
                <a:lnSpc>
                  <a:spcPts val="4758"/>
                </a:lnSpc>
                <a:buFont typeface="Arial"/>
                <a:buChar char="•"/>
              </a:pPr>
              <a:r>
                <a:rPr lang="en-US" sz="3398">
                  <a:solidFill>
                    <a:srgbClr val="134624"/>
                  </a:solidFill>
                  <a:latin typeface="DM Sans"/>
                  <a:ea typeface="DM Sans"/>
                  <a:cs typeface="DM Sans"/>
                  <a:sym typeface="DM Sans"/>
                </a:rPr>
                <a:t>Mango is one of the most important fruit crops with high economic value</a:t>
              </a:r>
            </a:p>
            <a:p>
              <a:pPr marL="733836" lvl="1" indent="-366918" algn="l">
                <a:lnSpc>
                  <a:spcPts val="4758"/>
                </a:lnSpc>
                <a:buFont typeface="Arial"/>
                <a:buChar char="•"/>
              </a:pPr>
              <a:r>
                <a:rPr lang="en-US" sz="3398">
                  <a:solidFill>
                    <a:srgbClr val="134624"/>
                  </a:solidFill>
                  <a:latin typeface="DM Sans"/>
                  <a:ea typeface="DM Sans"/>
                  <a:cs typeface="DM Sans"/>
                  <a:sym typeface="DM Sans"/>
                </a:rPr>
                <a:t>Mango leaves are commonly affected by diseases and nutrient deficiencies</a:t>
              </a:r>
            </a:p>
            <a:p>
              <a:pPr marL="733836" lvl="1" indent="-366918" algn="l">
                <a:lnSpc>
                  <a:spcPts val="4758"/>
                </a:lnSpc>
                <a:buFont typeface="Arial"/>
                <a:buChar char="•"/>
              </a:pPr>
              <a:r>
                <a:rPr lang="en-US" sz="3398">
                  <a:solidFill>
                    <a:srgbClr val="134624"/>
                  </a:solidFill>
                  <a:latin typeface="DM Sans"/>
                  <a:ea typeface="DM Sans"/>
                  <a:cs typeface="DM Sans"/>
                  <a:sym typeface="DM Sans"/>
                </a:rPr>
                <a:t>Early identification is crucial to prevent yield loss and quality reduction</a:t>
              </a:r>
            </a:p>
            <a:p>
              <a:pPr marL="733836" lvl="1" indent="-366918" algn="l">
                <a:lnSpc>
                  <a:spcPts val="4758"/>
                </a:lnSpc>
                <a:buFont typeface="Arial"/>
                <a:buChar char="•"/>
              </a:pPr>
              <a:r>
                <a:rPr lang="en-US" sz="3398">
                  <a:solidFill>
                    <a:srgbClr val="134624"/>
                  </a:solidFill>
                  <a:latin typeface="DM Sans"/>
                  <a:ea typeface="DM Sans"/>
                  <a:cs typeface="DM Sans"/>
                  <a:sym typeface="DM Sans"/>
                </a:rPr>
                <a:t>Manual diagnosis is time-consuming and requires expert knowledge</a:t>
              </a:r>
            </a:p>
            <a:p>
              <a:pPr marL="733836" lvl="1" indent="-366918" algn="l">
                <a:lnSpc>
                  <a:spcPts val="4758"/>
                </a:lnSpc>
                <a:buFont typeface="Arial"/>
                <a:buChar char="•"/>
              </a:pPr>
              <a:r>
                <a:rPr lang="en-US" sz="3398">
                  <a:solidFill>
                    <a:srgbClr val="134624"/>
                  </a:solidFill>
                  <a:latin typeface="DM Sans"/>
                  <a:ea typeface="DM Sans"/>
                  <a:cs typeface="DM Sans"/>
                  <a:sym typeface="DM Sans"/>
                </a:rPr>
                <a:t>Artificial Intelligence can assist in fast and accurate leaf health analysis</a:t>
              </a:r>
            </a:p>
            <a:p>
              <a:pPr marL="0" lvl="0" indent="0" algn="l">
                <a:lnSpc>
                  <a:spcPts val="4758"/>
                </a:lnSpc>
              </a:pPr>
              <a:endParaRPr lang="en-US" sz="3398">
                <a:solidFill>
                  <a:srgbClr val="134624"/>
                </a:solidFill>
                <a:latin typeface="DM Sans"/>
                <a:ea typeface="DM Sans"/>
                <a:cs typeface="DM Sans"/>
                <a:sym typeface="DM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4932" y="2196484"/>
            <a:ext cx="17218135" cy="6781800"/>
          </a:xfrm>
          <a:prstGeom prst="rect">
            <a:avLst/>
          </a:prstGeom>
        </p:spPr>
        <p:txBody>
          <a:bodyPr lIns="0" tIns="0" rIns="0" bIns="0" rtlCol="0" anchor="t">
            <a:spAutoFit/>
          </a:bodyPr>
          <a:lstStyle/>
          <a:p>
            <a:pPr marL="847519" lvl="1" indent="-423759" algn="l">
              <a:lnSpc>
                <a:spcPts val="5495"/>
              </a:lnSpc>
              <a:buFont typeface="Arial"/>
              <a:buChar char="•"/>
            </a:pPr>
            <a:r>
              <a:rPr lang="en-US" sz="3925" dirty="0">
                <a:solidFill>
                  <a:srgbClr val="000000"/>
                </a:solidFill>
                <a:latin typeface="DM Sans"/>
                <a:ea typeface="DM Sans"/>
                <a:cs typeface="DM Sans"/>
                <a:sym typeface="DM Sans"/>
              </a:rPr>
              <a:t>We analyzed 41 research papers spanning a decade (2016-2025) on mango leaf health detection. </a:t>
            </a:r>
            <a:r>
              <a:rPr lang="en-US" sz="3925" u="sng" dirty="0">
                <a:solidFill>
                  <a:srgbClr val="000000"/>
                </a:solidFill>
                <a:latin typeface="DM Sans"/>
                <a:ea typeface="DM Sans"/>
                <a:cs typeface="DM Sans"/>
                <a:sym typeface="DM Sans"/>
                <a:hlinkClick r:id="rId2" tooltip="https://docs.google.com/spreadsheets/d/1AtQCwth4pSGF6OrPgFUvaskzhcJrWES-/edit?usp=drive_link&amp;ouid=107366892230877033565&amp;rtpof=true&amp;sd=true"/>
              </a:rPr>
              <a:t>link</a:t>
            </a:r>
            <a:r>
              <a:rPr lang="en-US" sz="3925" dirty="0">
                <a:solidFill>
                  <a:srgbClr val="000000"/>
                </a:solidFill>
                <a:latin typeface="DM Sans"/>
                <a:ea typeface="DM Sans"/>
                <a:cs typeface="DM Sans"/>
                <a:sym typeface="DM Sans"/>
              </a:rPr>
              <a:t>(literature survey excel sheet)</a:t>
            </a:r>
          </a:p>
          <a:p>
            <a:pPr algn="ctr">
              <a:lnSpc>
                <a:spcPts val="4325"/>
              </a:lnSpc>
            </a:pPr>
            <a:r>
              <a:rPr lang="en-US" sz="4325" b="1" dirty="0">
                <a:solidFill>
                  <a:srgbClr val="D4AF37"/>
                </a:solidFill>
                <a:latin typeface="DM Sans Bold"/>
                <a:ea typeface="DM Sans Bold"/>
                <a:cs typeface="DM Sans Bold"/>
                <a:sym typeface="DM Sans Bold"/>
              </a:rPr>
              <a:t>     Key Findings </a:t>
            </a:r>
          </a:p>
          <a:p>
            <a:pPr marL="739571" lvl="1" indent="-369786" algn="l">
              <a:lnSpc>
                <a:spcPts val="3425"/>
              </a:lnSpc>
              <a:buFont typeface="Arial"/>
              <a:buChar char="•"/>
            </a:pPr>
            <a:r>
              <a:rPr lang="en-US" sz="3425" b="1" dirty="0">
                <a:solidFill>
                  <a:srgbClr val="000000"/>
                </a:solidFill>
                <a:latin typeface="DM Sans Bold"/>
                <a:ea typeface="DM Sans Bold"/>
                <a:cs typeface="DM Sans Bold"/>
                <a:sym typeface="DM Sans Bold"/>
              </a:rPr>
              <a:t>Scope Gap:</a:t>
            </a:r>
            <a:r>
              <a:rPr lang="en-US" sz="3425" dirty="0">
                <a:solidFill>
                  <a:srgbClr val="000000"/>
                </a:solidFill>
                <a:latin typeface="DM Sans"/>
                <a:ea typeface="DM Sans"/>
                <a:cs typeface="DM Sans"/>
                <a:sym typeface="DM Sans"/>
              </a:rPr>
              <a:t> Over 90% of studies focus exclusively on disease detection, largely ignoring nutrient deficiencies.</a:t>
            </a:r>
          </a:p>
          <a:p>
            <a:pPr marL="739571" lvl="1" indent="-369786" algn="l">
              <a:lnSpc>
                <a:spcPts val="3425"/>
              </a:lnSpc>
              <a:buFont typeface="Arial"/>
              <a:buChar char="•"/>
            </a:pPr>
            <a:r>
              <a:rPr lang="en-US" sz="3425" b="1" dirty="0">
                <a:solidFill>
                  <a:srgbClr val="000000"/>
                </a:solidFill>
                <a:latin typeface="DM Sans Bold"/>
                <a:ea typeface="DM Sans Bold"/>
                <a:cs typeface="DM Sans Bold"/>
                <a:sym typeface="DM Sans Bold"/>
              </a:rPr>
              <a:t>Tech Evolution:</a:t>
            </a:r>
            <a:r>
              <a:rPr lang="en-US" sz="3425" dirty="0">
                <a:solidFill>
                  <a:srgbClr val="000000"/>
                </a:solidFill>
                <a:latin typeface="DM Sans"/>
                <a:ea typeface="DM Sans"/>
                <a:cs typeface="DM Sans"/>
                <a:sym typeface="DM Sans"/>
              </a:rPr>
              <a:t> Clear shift from Classical ML (SVM, KNN) to Deep Learning (CNN, </a:t>
            </a:r>
            <a:r>
              <a:rPr lang="en-US" sz="3425" dirty="0" err="1">
                <a:solidFill>
                  <a:srgbClr val="000000"/>
                </a:solidFill>
                <a:latin typeface="DM Sans"/>
                <a:ea typeface="DM Sans"/>
                <a:cs typeface="DM Sans"/>
                <a:sym typeface="DM Sans"/>
              </a:rPr>
              <a:t>DenseNet</a:t>
            </a:r>
            <a:r>
              <a:rPr lang="en-US" sz="3425" dirty="0">
                <a:solidFill>
                  <a:srgbClr val="000000"/>
                </a:solidFill>
                <a:latin typeface="DM Sans"/>
                <a:ea typeface="DM Sans"/>
                <a:cs typeface="DM Sans"/>
                <a:sym typeface="DM Sans"/>
              </a:rPr>
              <a:t>) and now Lightweight/Explainable AI models.</a:t>
            </a:r>
          </a:p>
          <a:p>
            <a:pPr marL="739571" lvl="1" indent="-369786" algn="l">
              <a:lnSpc>
                <a:spcPts val="3425"/>
              </a:lnSpc>
              <a:buFont typeface="Arial"/>
              <a:buChar char="•"/>
            </a:pPr>
            <a:r>
              <a:rPr lang="en-US" sz="3425" b="1" dirty="0">
                <a:solidFill>
                  <a:srgbClr val="000000"/>
                </a:solidFill>
                <a:latin typeface="DM Sans Bold"/>
                <a:ea typeface="DM Sans Bold"/>
                <a:cs typeface="DM Sans Bold"/>
                <a:sym typeface="DM Sans Bold"/>
              </a:rPr>
              <a:t>Validation Gap:</a:t>
            </a:r>
            <a:r>
              <a:rPr lang="en-US" sz="3425" dirty="0">
                <a:solidFill>
                  <a:srgbClr val="000000"/>
                </a:solidFill>
                <a:latin typeface="DM Sans"/>
                <a:ea typeface="DM Sans"/>
                <a:cs typeface="DM Sans"/>
                <a:sym typeface="DM Sans"/>
              </a:rPr>
              <a:t> Nearly all high-accuracy models (&gt;95%) are validated in controlled lab conditions, not real field environments.</a:t>
            </a:r>
          </a:p>
          <a:p>
            <a:pPr marL="739571" lvl="1" indent="-369786" algn="l">
              <a:lnSpc>
                <a:spcPts val="3425"/>
              </a:lnSpc>
              <a:buFont typeface="Arial"/>
              <a:buChar char="•"/>
            </a:pPr>
            <a:r>
              <a:rPr lang="en-US" sz="3425" b="1" dirty="0">
                <a:solidFill>
                  <a:srgbClr val="000000"/>
                </a:solidFill>
                <a:latin typeface="DM Sans Bold"/>
                <a:ea typeface="DM Sans Bold"/>
                <a:cs typeface="DM Sans Bold"/>
                <a:sym typeface="DM Sans Bold"/>
              </a:rPr>
              <a:t>Practicality Gap: </a:t>
            </a:r>
            <a:r>
              <a:rPr lang="en-US" sz="3425" dirty="0">
                <a:solidFill>
                  <a:srgbClr val="000000"/>
                </a:solidFill>
                <a:latin typeface="DM Sans"/>
                <a:ea typeface="DM Sans"/>
                <a:cs typeface="DM Sans"/>
                <a:sym typeface="DM Sans"/>
              </a:rPr>
              <a:t>Minimal focus on mobile deployment; only 2 papers discuss optimization for low-resource devices.</a:t>
            </a:r>
          </a:p>
          <a:p>
            <a:pPr marL="739571" lvl="1" indent="-369786" algn="l">
              <a:lnSpc>
                <a:spcPts val="3425"/>
              </a:lnSpc>
              <a:buFont typeface="Arial"/>
              <a:buChar char="•"/>
            </a:pPr>
            <a:r>
              <a:rPr lang="en-US" sz="3425" b="1" dirty="0">
                <a:solidFill>
                  <a:srgbClr val="000000"/>
                </a:solidFill>
                <a:latin typeface="DM Sans Bold"/>
                <a:ea typeface="DM Sans Bold"/>
                <a:cs typeface="DM Sans Bold"/>
                <a:sym typeface="DM Sans Bold"/>
              </a:rPr>
              <a:t>Our Synthesis:</a:t>
            </a:r>
            <a:r>
              <a:rPr lang="en-US" sz="3425" dirty="0">
                <a:solidFill>
                  <a:srgbClr val="000000"/>
                </a:solidFill>
                <a:latin typeface="DM Sans"/>
                <a:ea typeface="DM Sans"/>
                <a:cs typeface="DM Sans"/>
                <a:sym typeface="DM Sans"/>
              </a:rPr>
              <a:t> This analysis identifies a critical need for an integrated, field-robust, and farmer-accessible diagnostic system.</a:t>
            </a:r>
          </a:p>
          <a:p>
            <a:pPr algn="l">
              <a:lnSpc>
                <a:spcPts val="3925"/>
              </a:lnSpc>
            </a:pPr>
            <a:endParaRPr lang="en-US" sz="3425" dirty="0">
              <a:solidFill>
                <a:srgbClr val="000000"/>
              </a:solidFill>
              <a:latin typeface="DM Sans"/>
              <a:ea typeface="DM Sans"/>
              <a:cs typeface="DM Sans"/>
              <a:sym typeface="DM Sans"/>
            </a:endParaRPr>
          </a:p>
        </p:txBody>
      </p:sp>
      <p:sp>
        <p:nvSpPr>
          <p:cNvPr id="3" name="TextBox 3"/>
          <p:cNvSpPr txBox="1"/>
          <p:nvPr/>
        </p:nvSpPr>
        <p:spPr>
          <a:xfrm>
            <a:off x="2979986" y="150178"/>
            <a:ext cx="12328029" cy="1436675"/>
          </a:xfrm>
          <a:prstGeom prst="rect">
            <a:avLst/>
          </a:prstGeom>
        </p:spPr>
        <p:txBody>
          <a:bodyPr lIns="0" tIns="0" rIns="0" bIns="0" rtlCol="0" anchor="t">
            <a:spAutoFit/>
          </a:bodyPr>
          <a:lstStyle/>
          <a:p>
            <a:pPr algn="ctr">
              <a:lnSpc>
                <a:spcPts val="12880"/>
              </a:lnSpc>
            </a:pPr>
            <a:r>
              <a:rPr lang="en-US" sz="6600" b="1" dirty="0">
                <a:solidFill>
                  <a:srgbClr val="134624"/>
                </a:solidFill>
                <a:latin typeface="Georgia Pro Bold"/>
                <a:ea typeface="Georgia Pro Bold"/>
                <a:cs typeface="Georgia Pro Bold"/>
                <a:sym typeface="Georgia Pro Bold"/>
              </a:rPr>
              <a:t>Review of Literature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07568" y="582174"/>
            <a:ext cx="13872865" cy="1478290"/>
          </a:xfrm>
          <a:prstGeom prst="rect">
            <a:avLst/>
          </a:prstGeom>
        </p:spPr>
        <p:txBody>
          <a:bodyPr lIns="0" tIns="0" rIns="0" bIns="0" rtlCol="0" anchor="t">
            <a:spAutoFit/>
          </a:bodyPr>
          <a:lstStyle/>
          <a:p>
            <a:pPr algn="ctr">
              <a:lnSpc>
                <a:spcPts val="12880"/>
              </a:lnSpc>
            </a:pPr>
            <a:r>
              <a:rPr lang="en-US" sz="8000" b="1" dirty="0">
                <a:solidFill>
                  <a:srgbClr val="134624"/>
                </a:solidFill>
                <a:latin typeface="Georgia Pro Bold"/>
                <a:ea typeface="Georgia Pro Bold"/>
                <a:cs typeface="Georgia Pro Bold"/>
                <a:sym typeface="Georgia Pro Bold"/>
              </a:rPr>
              <a:t>Proposed methodology</a:t>
            </a:r>
          </a:p>
        </p:txBody>
      </p:sp>
      <p:sp>
        <p:nvSpPr>
          <p:cNvPr id="3" name="TextBox 3"/>
          <p:cNvSpPr txBox="1"/>
          <p:nvPr/>
        </p:nvSpPr>
        <p:spPr>
          <a:xfrm>
            <a:off x="943422" y="2769327"/>
            <a:ext cx="16401157" cy="6488973"/>
          </a:xfrm>
          <a:prstGeom prst="rect">
            <a:avLst/>
          </a:prstGeom>
        </p:spPr>
        <p:txBody>
          <a:bodyPr lIns="0" tIns="0" rIns="0" bIns="0" rtlCol="0" anchor="t">
            <a:spAutoFit/>
          </a:bodyPr>
          <a:lstStyle/>
          <a:p>
            <a:pPr marL="697056" lvl="1" indent="-348528" algn="l">
              <a:lnSpc>
                <a:spcPts val="4520"/>
              </a:lnSpc>
              <a:buFont typeface="Arial"/>
              <a:buChar char="•"/>
            </a:pPr>
            <a:r>
              <a:rPr lang="en-US" sz="3228" b="1" dirty="0">
                <a:solidFill>
                  <a:srgbClr val="000000"/>
                </a:solidFill>
                <a:latin typeface="DM Sans Bold"/>
                <a:ea typeface="DM Sans Bold"/>
                <a:cs typeface="DM Sans Bold"/>
                <a:sym typeface="DM Sans Bold"/>
              </a:rPr>
              <a:t>Two Parallel Approaches:</a:t>
            </a:r>
            <a:r>
              <a:rPr lang="en-US" sz="3228" dirty="0">
                <a:solidFill>
                  <a:srgbClr val="000000"/>
                </a:solidFill>
                <a:latin typeface="DM Sans"/>
                <a:ea typeface="DM Sans"/>
                <a:cs typeface="DM Sans"/>
                <a:sym typeface="DM Sans"/>
              </a:rPr>
              <a:t> Implementation of both classical machine learning and deep learning pipelines</a:t>
            </a:r>
          </a:p>
          <a:p>
            <a:pPr marL="761825" lvl="1" indent="-380912" algn="l">
              <a:lnSpc>
                <a:spcPts val="4940"/>
              </a:lnSpc>
              <a:buAutoNum type="arabicPeriod"/>
            </a:pPr>
            <a:r>
              <a:rPr lang="en-US" sz="3528" b="1" dirty="0">
                <a:solidFill>
                  <a:srgbClr val="000000"/>
                </a:solidFill>
                <a:latin typeface="DM Sans Bold"/>
                <a:ea typeface="DM Sans Bold"/>
                <a:cs typeface="DM Sans Bold"/>
                <a:sym typeface="DM Sans Bold"/>
              </a:rPr>
              <a:t>Classical ML Pipeline:</a:t>
            </a:r>
            <a:r>
              <a:rPr lang="en-US" sz="3528" dirty="0">
                <a:solidFill>
                  <a:srgbClr val="000000"/>
                </a:solidFill>
                <a:latin typeface="DM Sans"/>
                <a:ea typeface="DM Sans"/>
                <a:cs typeface="DM Sans"/>
                <a:sym typeface="DM Sans"/>
              </a:rPr>
              <a:t> Image preprocessing → handcrafted feature extraction → classification using SVM, Random Forest, and KNN </a:t>
            </a:r>
            <a:r>
              <a:rPr lang="en-US" sz="3528" u="sng" dirty="0">
                <a:solidFill>
                  <a:srgbClr val="000000"/>
                </a:solidFill>
                <a:latin typeface="DM Sans"/>
                <a:ea typeface="DM Sans"/>
                <a:cs typeface="DM Sans"/>
                <a:sym typeface="DM Sans"/>
                <a:hlinkClick r:id="rId2" tooltip="https://www.kaggle.com/code/gurajalalaasyapriya/classical-ml-pipeline"/>
              </a:rPr>
              <a:t>link</a:t>
            </a:r>
            <a:r>
              <a:rPr lang="en-US" sz="3528" dirty="0">
                <a:solidFill>
                  <a:srgbClr val="000000"/>
                </a:solidFill>
                <a:latin typeface="DM Sans"/>
                <a:ea typeface="DM Sans"/>
                <a:cs typeface="DM Sans"/>
                <a:sym typeface="DM Sans"/>
              </a:rPr>
              <a:t> </a:t>
            </a:r>
          </a:p>
          <a:p>
            <a:pPr marL="718646" lvl="1" indent="-359323" algn="l">
              <a:lnSpc>
                <a:spcPts val="4660"/>
              </a:lnSpc>
              <a:buAutoNum type="arabicPeriod"/>
            </a:pPr>
            <a:r>
              <a:rPr lang="en-US" sz="3328" b="1" dirty="0">
                <a:solidFill>
                  <a:srgbClr val="000000"/>
                </a:solidFill>
                <a:latin typeface="DM Sans Bold"/>
                <a:ea typeface="DM Sans Bold"/>
                <a:cs typeface="DM Sans Bold"/>
                <a:sym typeface="DM Sans Bold"/>
              </a:rPr>
              <a:t>Deep Learning Pipeline:</a:t>
            </a:r>
            <a:r>
              <a:rPr lang="en-US" sz="3328" dirty="0">
                <a:solidFill>
                  <a:srgbClr val="000000"/>
                </a:solidFill>
                <a:latin typeface="DM Sans"/>
                <a:ea typeface="DM Sans"/>
                <a:cs typeface="DM Sans"/>
                <a:sym typeface="DM Sans"/>
              </a:rPr>
              <a:t> Image preprocessing → transfer learning using DenseNet-121 → multi-class classification </a:t>
            </a:r>
            <a:r>
              <a:rPr lang="en-US" sz="3328" u="sng" dirty="0">
                <a:solidFill>
                  <a:srgbClr val="000000"/>
                </a:solidFill>
                <a:latin typeface="DM Sans"/>
                <a:ea typeface="DM Sans"/>
                <a:cs typeface="DM Sans"/>
                <a:sym typeface="DM Sans"/>
                <a:hlinkClick r:id="rId3" tooltip="https://www.kaggle.com/code/gurajalalaasyapriya/improved-pipeline"/>
              </a:rPr>
              <a:t>link</a:t>
            </a:r>
          </a:p>
          <a:p>
            <a:pPr marL="718646" lvl="1" indent="-359323" algn="l">
              <a:lnSpc>
                <a:spcPts val="4660"/>
              </a:lnSpc>
              <a:buFont typeface="Arial"/>
              <a:buChar char="•"/>
            </a:pPr>
            <a:r>
              <a:rPr lang="en-US" sz="3328" b="1" dirty="0">
                <a:solidFill>
                  <a:srgbClr val="000000"/>
                </a:solidFill>
                <a:latin typeface="DM Sans Bold"/>
                <a:ea typeface="DM Sans Bold"/>
                <a:cs typeface="DM Sans Bold"/>
                <a:sym typeface="DM Sans Bold"/>
              </a:rPr>
              <a:t>Comparative Analysis:</a:t>
            </a:r>
            <a:r>
              <a:rPr lang="en-US" sz="3328" dirty="0">
                <a:solidFill>
                  <a:srgbClr val="000000"/>
                </a:solidFill>
                <a:latin typeface="DM Sans"/>
                <a:ea typeface="DM Sans"/>
                <a:cs typeface="DM Sans"/>
                <a:sym typeface="DM Sans"/>
              </a:rPr>
              <a:t> Performance evaluation based on accuracy, inference speed, and computational efficiency</a:t>
            </a:r>
          </a:p>
          <a:p>
            <a:pPr marL="718646" lvl="1" indent="-359323" algn="l">
              <a:lnSpc>
                <a:spcPts val="4660"/>
              </a:lnSpc>
              <a:buFont typeface="Arial"/>
              <a:buChar char="•"/>
            </a:pPr>
            <a:r>
              <a:rPr lang="en-US" sz="3328" b="1" dirty="0">
                <a:solidFill>
                  <a:srgbClr val="000000"/>
                </a:solidFill>
                <a:latin typeface="DM Sans Bold"/>
                <a:ea typeface="DM Sans Bold"/>
                <a:cs typeface="DM Sans Bold"/>
                <a:sym typeface="DM Sans Bold"/>
              </a:rPr>
              <a:t>Generalization Focus:</a:t>
            </a:r>
            <a:r>
              <a:rPr lang="en-US" sz="3328" dirty="0">
                <a:solidFill>
                  <a:srgbClr val="000000"/>
                </a:solidFill>
                <a:latin typeface="DM Sans"/>
                <a:ea typeface="DM Sans"/>
                <a:cs typeface="DM Sans"/>
                <a:sym typeface="DM Sans"/>
              </a:rPr>
              <a:t> Data augmentation and diverse dataset collection to improve robustness under field conditions</a:t>
            </a:r>
          </a:p>
          <a:p>
            <a:pPr algn="l">
              <a:lnSpc>
                <a:spcPts val="4660"/>
              </a:lnSpc>
            </a:pPr>
            <a:endParaRPr lang="en-US" sz="3328" dirty="0">
              <a:solidFill>
                <a:srgbClr val="000000"/>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29149" y="2678556"/>
            <a:ext cx="15429702" cy="5995275"/>
          </a:xfrm>
          <a:custGeom>
            <a:avLst/>
            <a:gdLst/>
            <a:ahLst/>
            <a:cxnLst/>
            <a:rect l="l" t="t" r="r" b="b"/>
            <a:pathLst>
              <a:path w="15429702" h="5995275">
                <a:moveTo>
                  <a:pt x="0" y="0"/>
                </a:moveTo>
                <a:lnTo>
                  <a:pt x="15429702" y="0"/>
                </a:lnTo>
                <a:lnTo>
                  <a:pt x="15429702" y="5995275"/>
                </a:lnTo>
                <a:lnTo>
                  <a:pt x="0" y="5995275"/>
                </a:lnTo>
                <a:lnTo>
                  <a:pt x="0" y="0"/>
                </a:lnTo>
                <a:close/>
              </a:path>
            </a:pathLst>
          </a:custGeom>
          <a:blipFill>
            <a:blip r:embed="rId2"/>
            <a:stretch>
              <a:fillRect t="-39963" b="-621"/>
            </a:stretch>
          </a:blipFill>
        </p:spPr>
      </p:sp>
      <p:sp>
        <p:nvSpPr>
          <p:cNvPr id="3" name="TextBox 3"/>
          <p:cNvSpPr txBox="1"/>
          <p:nvPr/>
        </p:nvSpPr>
        <p:spPr>
          <a:xfrm>
            <a:off x="3966567" y="395106"/>
            <a:ext cx="10354866" cy="1502078"/>
          </a:xfrm>
          <a:prstGeom prst="rect">
            <a:avLst/>
          </a:prstGeom>
        </p:spPr>
        <p:txBody>
          <a:bodyPr lIns="0" tIns="0" rIns="0" bIns="0" rtlCol="0" anchor="t">
            <a:spAutoFit/>
          </a:bodyPr>
          <a:lstStyle/>
          <a:p>
            <a:pPr algn="ctr">
              <a:lnSpc>
                <a:spcPts val="12880"/>
              </a:lnSpc>
            </a:pPr>
            <a:r>
              <a:rPr lang="en-US" sz="8800" b="1" dirty="0">
                <a:solidFill>
                  <a:srgbClr val="134624"/>
                </a:solidFill>
                <a:latin typeface="Georgia Pro Bold"/>
                <a:ea typeface="Georgia Pro Bold"/>
                <a:cs typeface="Georgia Pro Bold"/>
                <a:sym typeface="Georgia Pro Bold"/>
              </a:rPr>
              <a:t>Proposed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07528" y="2278089"/>
            <a:ext cx="4672943" cy="7803556"/>
          </a:xfrm>
          <a:custGeom>
            <a:avLst/>
            <a:gdLst/>
            <a:ahLst/>
            <a:cxnLst/>
            <a:rect l="l" t="t" r="r" b="b"/>
            <a:pathLst>
              <a:path w="4672943" h="7803556">
                <a:moveTo>
                  <a:pt x="0" y="0"/>
                </a:moveTo>
                <a:lnTo>
                  <a:pt x="4672944" y="0"/>
                </a:lnTo>
                <a:lnTo>
                  <a:pt x="4672944" y="7803556"/>
                </a:lnTo>
                <a:lnTo>
                  <a:pt x="0" y="7803556"/>
                </a:lnTo>
                <a:lnTo>
                  <a:pt x="0" y="0"/>
                </a:lnTo>
                <a:close/>
              </a:path>
            </a:pathLst>
          </a:custGeom>
          <a:blipFill>
            <a:blip r:embed="rId2"/>
            <a:stretch>
              <a:fillRect t="-411" r="-1761" b="-411"/>
            </a:stretch>
          </a:blipFill>
        </p:spPr>
      </p:sp>
      <p:sp>
        <p:nvSpPr>
          <p:cNvPr id="3" name="TextBox 3"/>
          <p:cNvSpPr txBox="1"/>
          <p:nvPr/>
        </p:nvSpPr>
        <p:spPr>
          <a:xfrm>
            <a:off x="5654679" y="1212792"/>
            <a:ext cx="6978643" cy="1668782"/>
          </a:xfrm>
          <a:prstGeom prst="rect">
            <a:avLst/>
          </a:prstGeom>
        </p:spPr>
        <p:txBody>
          <a:bodyPr lIns="0" tIns="0" rIns="0" bIns="0" rtlCol="0" anchor="t">
            <a:spAutoFit/>
          </a:bodyPr>
          <a:lstStyle/>
          <a:p>
            <a:pPr algn="r">
              <a:lnSpc>
                <a:spcPts val="6719"/>
              </a:lnSpc>
            </a:pPr>
            <a:r>
              <a:rPr lang="en-US" sz="4799" dirty="0">
                <a:solidFill>
                  <a:srgbClr val="134624"/>
                </a:solidFill>
                <a:latin typeface="Georgia Pro"/>
                <a:ea typeface="Georgia Pro"/>
                <a:cs typeface="Georgia Pro"/>
                <a:sym typeface="Georgia Pro"/>
              </a:rPr>
              <a:t>Use Case diagram</a:t>
            </a:r>
          </a:p>
          <a:p>
            <a:pPr algn="ctr">
              <a:lnSpc>
                <a:spcPts val="6719"/>
              </a:lnSpc>
              <a:spcBef>
                <a:spcPct val="0"/>
              </a:spcBef>
            </a:pPr>
            <a:endParaRPr lang="en-US" sz="4799" dirty="0">
              <a:solidFill>
                <a:srgbClr val="134624"/>
              </a:solidFill>
              <a:latin typeface="Georgia Pro"/>
              <a:ea typeface="Georgia Pro"/>
              <a:cs typeface="Georgia Pro"/>
              <a:sym typeface="Georgia Pro"/>
            </a:endParaRPr>
          </a:p>
        </p:txBody>
      </p:sp>
      <p:sp>
        <p:nvSpPr>
          <p:cNvPr id="4" name="TextBox 4"/>
          <p:cNvSpPr txBox="1"/>
          <p:nvPr/>
        </p:nvSpPr>
        <p:spPr>
          <a:xfrm>
            <a:off x="289933" y="-36580"/>
            <a:ext cx="6744650" cy="1344622"/>
          </a:xfrm>
          <a:prstGeom prst="rect">
            <a:avLst/>
          </a:prstGeom>
        </p:spPr>
        <p:txBody>
          <a:bodyPr lIns="0" tIns="0" rIns="0" bIns="0" rtlCol="0" anchor="t">
            <a:spAutoFit/>
          </a:bodyPr>
          <a:lstStyle/>
          <a:p>
            <a:pPr algn="ctr">
              <a:lnSpc>
                <a:spcPts val="10919"/>
              </a:lnSpc>
            </a:pPr>
            <a:r>
              <a:rPr lang="en-US" sz="7799">
                <a:solidFill>
                  <a:srgbClr val="013220"/>
                </a:solidFill>
                <a:latin typeface="Georgia Pro"/>
                <a:ea typeface="Georgia Pro"/>
                <a:cs typeface="Georgia Pro"/>
                <a:sym typeface="Georgia Pro"/>
              </a:rPr>
              <a:t>UML Diagrams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94907" y="2237805"/>
            <a:ext cx="8298186" cy="7585375"/>
          </a:xfrm>
          <a:custGeom>
            <a:avLst/>
            <a:gdLst/>
            <a:ahLst/>
            <a:cxnLst/>
            <a:rect l="l" t="t" r="r" b="b"/>
            <a:pathLst>
              <a:path w="8298186" h="7585375">
                <a:moveTo>
                  <a:pt x="0" y="0"/>
                </a:moveTo>
                <a:lnTo>
                  <a:pt x="8298186" y="0"/>
                </a:lnTo>
                <a:lnTo>
                  <a:pt x="8298186" y="7585375"/>
                </a:lnTo>
                <a:lnTo>
                  <a:pt x="0" y="7585375"/>
                </a:lnTo>
                <a:lnTo>
                  <a:pt x="0" y="0"/>
                </a:lnTo>
                <a:close/>
              </a:path>
            </a:pathLst>
          </a:custGeom>
          <a:blipFill>
            <a:blip r:embed="rId2"/>
            <a:stretch>
              <a:fillRect/>
            </a:stretch>
          </a:blipFill>
        </p:spPr>
      </p:sp>
      <p:sp>
        <p:nvSpPr>
          <p:cNvPr id="3" name="TextBox 3"/>
          <p:cNvSpPr txBox="1"/>
          <p:nvPr/>
        </p:nvSpPr>
        <p:spPr>
          <a:xfrm>
            <a:off x="5514901" y="150178"/>
            <a:ext cx="7258199" cy="1576069"/>
          </a:xfrm>
          <a:prstGeom prst="rect">
            <a:avLst/>
          </a:prstGeom>
        </p:spPr>
        <p:txBody>
          <a:bodyPr lIns="0" tIns="0" rIns="0" bIns="0" rtlCol="0" anchor="t">
            <a:spAutoFit/>
          </a:bodyPr>
          <a:lstStyle/>
          <a:p>
            <a:pPr algn="ctr">
              <a:lnSpc>
                <a:spcPts val="12880"/>
              </a:lnSpc>
            </a:pPr>
            <a:r>
              <a:rPr lang="en-US" sz="8800" dirty="0">
                <a:solidFill>
                  <a:srgbClr val="134624"/>
                </a:solidFill>
                <a:latin typeface="Georgia Pro"/>
                <a:ea typeface="Georgia Pro"/>
                <a:cs typeface="Georgia Pro"/>
                <a:sym typeface="Georgia Pro"/>
              </a:rPr>
              <a:t>Class diagram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37024" y="2323624"/>
            <a:ext cx="13059004" cy="7124472"/>
          </a:xfrm>
          <a:custGeom>
            <a:avLst/>
            <a:gdLst/>
            <a:ahLst/>
            <a:cxnLst/>
            <a:rect l="l" t="t" r="r" b="b"/>
            <a:pathLst>
              <a:path w="13059004" h="7124472">
                <a:moveTo>
                  <a:pt x="0" y="0"/>
                </a:moveTo>
                <a:lnTo>
                  <a:pt x="13059004" y="0"/>
                </a:lnTo>
                <a:lnTo>
                  <a:pt x="13059004" y="7124471"/>
                </a:lnTo>
                <a:lnTo>
                  <a:pt x="0" y="7124471"/>
                </a:lnTo>
                <a:lnTo>
                  <a:pt x="0" y="0"/>
                </a:lnTo>
                <a:close/>
              </a:path>
            </a:pathLst>
          </a:custGeom>
          <a:blipFill>
            <a:blip r:embed="rId2"/>
            <a:stretch>
              <a:fillRect t="-4708"/>
            </a:stretch>
          </a:blipFill>
        </p:spPr>
      </p:sp>
      <p:sp>
        <p:nvSpPr>
          <p:cNvPr id="3" name="TextBox 3"/>
          <p:cNvSpPr txBox="1"/>
          <p:nvPr/>
        </p:nvSpPr>
        <p:spPr>
          <a:xfrm>
            <a:off x="3249330" y="150178"/>
            <a:ext cx="11846491" cy="1576069"/>
          </a:xfrm>
          <a:prstGeom prst="rect">
            <a:avLst/>
          </a:prstGeom>
        </p:spPr>
        <p:txBody>
          <a:bodyPr lIns="0" tIns="0" rIns="0" bIns="0" rtlCol="0" anchor="t">
            <a:spAutoFit/>
          </a:bodyPr>
          <a:lstStyle/>
          <a:p>
            <a:pPr algn="ctr">
              <a:lnSpc>
                <a:spcPts val="12880"/>
              </a:lnSpc>
            </a:pPr>
            <a:r>
              <a:rPr lang="en-US" sz="9200">
                <a:solidFill>
                  <a:srgbClr val="134624"/>
                </a:solidFill>
                <a:latin typeface="Georgia Pro"/>
                <a:ea typeface="Georgia Pro"/>
                <a:cs typeface="Georgia Pro"/>
                <a:sym typeface="Georgia Pro"/>
              </a:rPr>
              <a:t>Sequence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07298" y="2407225"/>
            <a:ext cx="5073404" cy="7675569"/>
          </a:xfrm>
          <a:custGeom>
            <a:avLst/>
            <a:gdLst/>
            <a:ahLst/>
            <a:cxnLst/>
            <a:rect l="l" t="t" r="r" b="b"/>
            <a:pathLst>
              <a:path w="5073404" h="7675569">
                <a:moveTo>
                  <a:pt x="0" y="0"/>
                </a:moveTo>
                <a:lnTo>
                  <a:pt x="5073404" y="0"/>
                </a:lnTo>
                <a:lnTo>
                  <a:pt x="5073404" y="7675569"/>
                </a:lnTo>
                <a:lnTo>
                  <a:pt x="0" y="7675569"/>
                </a:lnTo>
                <a:lnTo>
                  <a:pt x="0" y="0"/>
                </a:lnTo>
                <a:close/>
              </a:path>
            </a:pathLst>
          </a:custGeom>
          <a:blipFill>
            <a:blip r:embed="rId2"/>
            <a:stretch>
              <a:fillRect/>
            </a:stretch>
          </a:blipFill>
        </p:spPr>
      </p:sp>
      <p:sp>
        <p:nvSpPr>
          <p:cNvPr id="3" name="TextBox 3"/>
          <p:cNvSpPr txBox="1"/>
          <p:nvPr/>
        </p:nvSpPr>
        <p:spPr>
          <a:xfrm>
            <a:off x="4885209" y="499877"/>
            <a:ext cx="8536632" cy="1576069"/>
          </a:xfrm>
          <a:prstGeom prst="rect">
            <a:avLst/>
          </a:prstGeom>
        </p:spPr>
        <p:txBody>
          <a:bodyPr lIns="0" tIns="0" rIns="0" bIns="0" rtlCol="0" anchor="t">
            <a:spAutoFit/>
          </a:bodyPr>
          <a:lstStyle/>
          <a:p>
            <a:pPr algn="ctr">
              <a:lnSpc>
                <a:spcPts val="12880"/>
              </a:lnSpc>
            </a:pPr>
            <a:r>
              <a:rPr lang="en-US" sz="8800" dirty="0">
                <a:solidFill>
                  <a:srgbClr val="134624"/>
                </a:solidFill>
                <a:latin typeface="Georgia Pro"/>
                <a:ea typeface="Georgia Pro"/>
                <a:cs typeface="Georgia Pro"/>
                <a:sym typeface="Georgia Pro"/>
              </a:rPr>
              <a:t>Activity 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926725" y="2522207"/>
            <a:ext cx="6434550" cy="7315325"/>
          </a:xfrm>
          <a:custGeom>
            <a:avLst/>
            <a:gdLst/>
            <a:ahLst/>
            <a:cxnLst/>
            <a:rect l="l" t="t" r="r" b="b"/>
            <a:pathLst>
              <a:path w="6434550" h="7315325">
                <a:moveTo>
                  <a:pt x="0" y="0"/>
                </a:moveTo>
                <a:lnTo>
                  <a:pt x="6434550" y="0"/>
                </a:lnTo>
                <a:lnTo>
                  <a:pt x="6434550" y="7315325"/>
                </a:lnTo>
                <a:lnTo>
                  <a:pt x="0" y="7315325"/>
                </a:lnTo>
                <a:lnTo>
                  <a:pt x="0" y="0"/>
                </a:lnTo>
                <a:close/>
              </a:path>
            </a:pathLst>
          </a:custGeom>
          <a:blipFill>
            <a:blip r:embed="rId2"/>
            <a:stretch>
              <a:fillRect/>
            </a:stretch>
          </a:blipFill>
        </p:spPr>
      </p:sp>
      <p:sp>
        <p:nvSpPr>
          <p:cNvPr id="3" name="TextBox 3"/>
          <p:cNvSpPr txBox="1"/>
          <p:nvPr/>
        </p:nvSpPr>
        <p:spPr>
          <a:xfrm>
            <a:off x="5174903" y="376431"/>
            <a:ext cx="7938195" cy="1576069"/>
          </a:xfrm>
          <a:prstGeom prst="rect">
            <a:avLst/>
          </a:prstGeom>
        </p:spPr>
        <p:txBody>
          <a:bodyPr lIns="0" tIns="0" rIns="0" bIns="0" rtlCol="0" anchor="t">
            <a:spAutoFit/>
          </a:bodyPr>
          <a:lstStyle/>
          <a:p>
            <a:pPr algn="ctr">
              <a:lnSpc>
                <a:spcPts val="12880"/>
              </a:lnSpc>
            </a:pPr>
            <a:r>
              <a:rPr lang="en-US" sz="8800" dirty="0">
                <a:solidFill>
                  <a:srgbClr val="134624"/>
                </a:solidFill>
                <a:latin typeface="Georgia Pro"/>
                <a:ea typeface="Georgia Pro"/>
                <a:cs typeface="Georgia Pro"/>
                <a:sym typeface="Georgia Pro"/>
              </a:rPr>
              <a:t>Object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69137" y="2486479"/>
            <a:ext cx="13149727" cy="5305065"/>
          </a:xfrm>
          <a:custGeom>
            <a:avLst/>
            <a:gdLst/>
            <a:ahLst/>
            <a:cxnLst/>
            <a:rect l="l" t="t" r="r" b="b"/>
            <a:pathLst>
              <a:path w="13149727" h="5305065">
                <a:moveTo>
                  <a:pt x="0" y="0"/>
                </a:moveTo>
                <a:lnTo>
                  <a:pt x="13149726" y="0"/>
                </a:lnTo>
                <a:lnTo>
                  <a:pt x="13149726" y="5305065"/>
                </a:lnTo>
                <a:lnTo>
                  <a:pt x="0" y="5305065"/>
                </a:lnTo>
                <a:lnTo>
                  <a:pt x="0" y="0"/>
                </a:lnTo>
                <a:close/>
              </a:path>
            </a:pathLst>
          </a:custGeom>
          <a:blipFill>
            <a:blip r:embed="rId2"/>
            <a:stretch>
              <a:fillRect b="-387"/>
            </a:stretch>
          </a:blipFill>
        </p:spPr>
      </p:sp>
      <p:sp>
        <p:nvSpPr>
          <p:cNvPr id="3" name="TextBox 3"/>
          <p:cNvSpPr txBox="1"/>
          <p:nvPr/>
        </p:nvSpPr>
        <p:spPr>
          <a:xfrm>
            <a:off x="2762982" y="150178"/>
            <a:ext cx="12762036" cy="1576069"/>
          </a:xfrm>
          <a:prstGeom prst="rect">
            <a:avLst/>
          </a:prstGeom>
        </p:spPr>
        <p:txBody>
          <a:bodyPr lIns="0" tIns="0" rIns="0" bIns="0" rtlCol="0" anchor="t">
            <a:spAutoFit/>
          </a:bodyPr>
          <a:lstStyle/>
          <a:p>
            <a:pPr algn="ctr">
              <a:lnSpc>
                <a:spcPts val="12880"/>
              </a:lnSpc>
            </a:pPr>
            <a:r>
              <a:rPr lang="en-US" sz="9200">
                <a:solidFill>
                  <a:srgbClr val="134624"/>
                </a:solidFill>
                <a:latin typeface="Georgia Pro"/>
                <a:ea typeface="Georgia Pro"/>
                <a:cs typeface="Georgia Pro"/>
                <a:sym typeface="Georgia Pro"/>
              </a:rPr>
              <a:t>Component diagram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77306" y="2287899"/>
            <a:ext cx="7333388" cy="7871170"/>
          </a:xfrm>
          <a:custGeom>
            <a:avLst/>
            <a:gdLst/>
            <a:ahLst/>
            <a:cxnLst/>
            <a:rect l="l" t="t" r="r" b="b"/>
            <a:pathLst>
              <a:path w="7333388" h="7871170">
                <a:moveTo>
                  <a:pt x="0" y="0"/>
                </a:moveTo>
                <a:lnTo>
                  <a:pt x="7333388" y="0"/>
                </a:lnTo>
                <a:lnTo>
                  <a:pt x="7333388" y="7871170"/>
                </a:lnTo>
                <a:lnTo>
                  <a:pt x="0" y="7871170"/>
                </a:lnTo>
                <a:lnTo>
                  <a:pt x="0" y="0"/>
                </a:lnTo>
                <a:close/>
              </a:path>
            </a:pathLst>
          </a:custGeom>
          <a:blipFill>
            <a:blip r:embed="rId2"/>
            <a:stretch>
              <a:fillRect/>
            </a:stretch>
          </a:blipFill>
        </p:spPr>
      </p:sp>
      <p:sp>
        <p:nvSpPr>
          <p:cNvPr id="3" name="TextBox 3"/>
          <p:cNvSpPr txBox="1"/>
          <p:nvPr/>
        </p:nvSpPr>
        <p:spPr>
          <a:xfrm>
            <a:off x="3690193" y="150178"/>
            <a:ext cx="10907613" cy="1576069"/>
          </a:xfrm>
          <a:prstGeom prst="rect">
            <a:avLst/>
          </a:prstGeom>
        </p:spPr>
        <p:txBody>
          <a:bodyPr lIns="0" tIns="0" rIns="0" bIns="0" rtlCol="0" anchor="t">
            <a:spAutoFit/>
          </a:bodyPr>
          <a:lstStyle/>
          <a:p>
            <a:pPr algn="ctr">
              <a:lnSpc>
                <a:spcPts val="12880"/>
              </a:lnSpc>
            </a:pPr>
            <a:r>
              <a:rPr lang="en-US" sz="8800" dirty="0">
                <a:solidFill>
                  <a:srgbClr val="134624"/>
                </a:solidFill>
                <a:latin typeface="Georgia Pro"/>
                <a:ea typeface="Georgia Pro"/>
                <a:cs typeface="Georgia Pro"/>
                <a:sym typeface="Georgia Pro"/>
              </a:rPr>
              <a:t>Deployment diagram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81450" y="757064"/>
            <a:ext cx="9326149" cy="9176283"/>
            <a:chOff x="0" y="0"/>
            <a:chExt cx="12434866" cy="12235044"/>
          </a:xfrm>
        </p:grpSpPr>
        <p:sp>
          <p:nvSpPr>
            <p:cNvPr id="5" name="TextBox 5"/>
            <p:cNvSpPr txBox="1"/>
            <p:nvPr/>
          </p:nvSpPr>
          <p:spPr>
            <a:xfrm>
              <a:off x="0" y="66675"/>
              <a:ext cx="11099800" cy="1554696"/>
            </a:xfrm>
            <a:prstGeom prst="rect">
              <a:avLst/>
            </a:prstGeom>
          </p:spPr>
          <p:txBody>
            <a:bodyPr lIns="0" tIns="0" rIns="0" bIns="0" rtlCol="0" anchor="t">
              <a:spAutoFit/>
            </a:bodyPr>
            <a:lstStyle/>
            <a:p>
              <a:pPr marL="0" lvl="0" indent="0" algn="l">
                <a:lnSpc>
                  <a:spcPts val="8800"/>
                </a:lnSpc>
              </a:pPr>
              <a:r>
                <a:rPr lang="en-US" sz="8000" b="1">
                  <a:solidFill>
                    <a:srgbClr val="134624"/>
                  </a:solidFill>
                  <a:latin typeface="Georgia Pro Bold"/>
                  <a:ea typeface="Georgia Pro Bold"/>
                  <a:cs typeface="Georgia Pro Bold"/>
                  <a:sym typeface="Georgia Pro Bold"/>
                </a:rPr>
                <a:t>Conclusion</a:t>
              </a:r>
            </a:p>
          </p:txBody>
        </p:sp>
        <p:sp>
          <p:nvSpPr>
            <p:cNvPr id="6" name="TextBox 6"/>
            <p:cNvSpPr txBox="1"/>
            <p:nvPr/>
          </p:nvSpPr>
          <p:spPr>
            <a:xfrm>
              <a:off x="658378" y="2499279"/>
              <a:ext cx="11776488" cy="9735764"/>
            </a:xfrm>
            <a:prstGeom prst="rect">
              <a:avLst/>
            </a:prstGeom>
          </p:spPr>
          <p:txBody>
            <a:bodyPr lIns="0" tIns="0" rIns="0" bIns="0" rtlCol="0" anchor="t">
              <a:spAutoFit/>
            </a:bodyPr>
            <a:lstStyle/>
            <a:p>
              <a:pPr marL="639958" lvl="1" indent="-319979" algn="l">
                <a:lnSpc>
                  <a:spcPts val="4149"/>
                </a:lnSpc>
                <a:buFont typeface="Arial"/>
                <a:buChar char="•"/>
              </a:pPr>
              <a:r>
                <a:rPr lang="en-US" sz="2964">
                  <a:solidFill>
                    <a:srgbClr val="134624"/>
                  </a:solidFill>
                  <a:latin typeface="DM Sans"/>
                  <a:ea typeface="DM Sans"/>
                  <a:cs typeface="DM Sans"/>
                  <a:sym typeface="DM Sans"/>
                </a:rPr>
                <a:t>Mango leaf diseases and nutrient deficiencies significantly impact crop yield</a:t>
              </a:r>
            </a:p>
            <a:p>
              <a:pPr marL="639958" lvl="1" indent="-319979" algn="l">
                <a:lnSpc>
                  <a:spcPts val="4149"/>
                </a:lnSpc>
                <a:buFont typeface="Arial"/>
                <a:buChar char="•"/>
              </a:pPr>
              <a:r>
                <a:rPr lang="en-US" sz="2964">
                  <a:solidFill>
                    <a:srgbClr val="134624"/>
                  </a:solidFill>
                  <a:latin typeface="DM Sans"/>
                  <a:ea typeface="DM Sans"/>
                  <a:cs typeface="DM Sans"/>
                  <a:sym typeface="DM Sans"/>
                </a:rPr>
                <a:t>Early and accurate detection is essential for effective crop management</a:t>
              </a:r>
            </a:p>
            <a:p>
              <a:pPr marL="639958" lvl="1" indent="-319979" algn="l">
                <a:lnSpc>
                  <a:spcPts val="4149"/>
                </a:lnSpc>
                <a:buFont typeface="Arial"/>
                <a:buChar char="•"/>
              </a:pPr>
              <a:r>
                <a:rPr lang="en-US" sz="2964">
                  <a:solidFill>
                    <a:srgbClr val="134624"/>
                  </a:solidFill>
                  <a:latin typeface="DM Sans"/>
                  <a:ea typeface="DM Sans"/>
                  <a:cs typeface="DM Sans"/>
                  <a:sym typeface="DM Sans"/>
                </a:rPr>
                <a:t>AI-based image analysis provides a promising solution for automated diagnosis</a:t>
              </a:r>
            </a:p>
            <a:p>
              <a:pPr marL="639958" lvl="1" indent="-319979" algn="l">
                <a:lnSpc>
                  <a:spcPts val="4149"/>
                </a:lnSpc>
                <a:buFont typeface="Arial"/>
                <a:buChar char="•"/>
              </a:pPr>
              <a:r>
                <a:rPr lang="en-US" sz="2964">
                  <a:solidFill>
                    <a:srgbClr val="134624"/>
                  </a:solidFill>
                  <a:latin typeface="DM Sans"/>
                  <a:ea typeface="DM Sans"/>
                  <a:cs typeface="DM Sans"/>
                  <a:sym typeface="DM Sans"/>
                </a:rPr>
                <a:t>The proposed system aims to identify multiple diseases and deficiencies from leaf images</a:t>
              </a:r>
            </a:p>
            <a:p>
              <a:pPr marL="639958" lvl="1" indent="-319979" algn="l">
                <a:lnSpc>
                  <a:spcPts val="4149"/>
                </a:lnSpc>
                <a:buFont typeface="Arial"/>
                <a:buChar char="•"/>
              </a:pPr>
              <a:r>
                <a:rPr lang="en-US" sz="2964">
                  <a:solidFill>
                    <a:srgbClr val="134624"/>
                  </a:solidFill>
                  <a:latin typeface="DM Sans"/>
                  <a:ea typeface="DM Sans"/>
                  <a:cs typeface="DM Sans"/>
                  <a:sym typeface="DM Sans"/>
                </a:rPr>
                <a:t>Mobile-friendly deployment can support farmers with timely decision-making</a:t>
              </a:r>
            </a:p>
            <a:p>
              <a:pPr marL="639958" lvl="1" indent="-319979" algn="l">
                <a:lnSpc>
                  <a:spcPts val="4149"/>
                </a:lnSpc>
                <a:buFont typeface="Arial"/>
                <a:buChar char="•"/>
              </a:pPr>
              <a:r>
                <a:rPr lang="en-US" sz="2964">
                  <a:solidFill>
                    <a:srgbClr val="134624"/>
                  </a:solidFill>
                  <a:latin typeface="DM Sans"/>
                  <a:ea typeface="DM Sans"/>
                  <a:cs typeface="DM Sans"/>
                  <a:sym typeface="DM Sans"/>
                </a:rPr>
                <a:t>This approach has the potential to improve productivity and promote sustainable agriculture</a:t>
              </a:r>
            </a:p>
            <a:p>
              <a:pPr algn="l">
                <a:lnSpc>
                  <a:spcPts val="4149"/>
                </a:lnSpc>
              </a:pPr>
              <a:endParaRPr lang="en-US" sz="2964">
                <a:solidFill>
                  <a:srgbClr val="134624"/>
                </a:solidFill>
                <a:latin typeface="DM Sans"/>
                <a:ea typeface="DM Sans"/>
                <a:cs typeface="DM Sans"/>
                <a:sym typeface="DM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7230" y="417580"/>
            <a:ext cx="6695777" cy="1502078"/>
          </a:xfrm>
          <a:prstGeom prst="rect">
            <a:avLst/>
          </a:prstGeom>
        </p:spPr>
        <p:txBody>
          <a:bodyPr lIns="0" tIns="0" rIns="0" bIns="0" rtlCol="0" anchor="t">
            <a:spAutoFit/>
          </a:bodyPr>
          <a:lstStyle/>
          <a:p>
            <a:pPr algn="ctr">
              <a:lnSpc>
                <a:spcPts val="12880"/>
              </a:lnSpc>
            </a:pPr>
            <a:r>
              <a:rPr lang="en-US" sz="8800" b="1" dirty="0">
                <a:solidFill>
                  <a:srgbClr val="013220"/>
                </a:solidFill>
                <a:latin typeface="Georgia Pro Bold"/>
                <a:ea typeface="Georgia Pro Bold"/>
                <a:cs typeface="Georgia Pro Bold"/>
                <a:sym typeface="Georgia Pro Bold"/>
              </a:rPr>
              <a:t>References</a:t>
            </a:r>
          </a:p>
        </p:txBody>
      </p:sp>
      <p:sp>
        <p:nvSpPr>
          <p:cNvPr id="3" name="TextBox 3"/>
          <p:cNvSpPr txBox="1"/>
          <p:nvPr/>
        </p:nvSpPr>
        <p:spPr>
          <a:xfrm>
            <a:off x="617230" y="2592704"/>
            <a:ext cx="17053541" cy="6665596"/>
          </a:xfrm>
          <a:prstGeom prst="rect">
            <a:avLst/>
          </a:prstGeom>
        </p:spPr>
        <p:txBody>
          <a:bodyPr lIns="0" tIns="0" rIns="0" bIns="0" rtlCol="0" anchor="t">
            <a:spAutoFit/>
          </a:bodyPr>
          <a:lstStyle/>
          <a:p>
            <a:pPr algn="l">
              <a:lnSpc>
                <a:spcPts val="3779"/>
              </a:lnSpc>
              <a:spcBef>
                <a:spcPct val="0"/>
              </a:spcBef>
            </a:pPr>
            <a:r>
              <a:rPr lang="en-US" sz="2699">
                <a:solidFill>
                  <a:srgbClr val="000000"/>
                </a:solidFill>
                <a:latin typeface="Georgia Pro"/>
                <a:ea typeface="Georgia Pro"/>
                <a:cs typeface="Georgia Pro"/>
                <a:sym typeface="Georgia Pro"/>
              </a:rPr>
              <a:t>[1] </a:t>
            </a:r>
            <a:r>
              <a:rPr lang="en-US" sz="2699" b="1">
                <a:solidFill>
                  <a:srgbClr val="000000"/>
                </a:solidFill>
                <a:latin typeface="Georgia Pro Bold"/>
                <a:ea typeface="Georgia Pro Bold"/>
                <a:cs typeface="Georgia Pro Bold"/>
                <a:sym typeface="Georgia Pro Bold"/>
              </a:rPr>
              <a:t>M. Merchant et al.,</a:t>
            </a:r>
            <a:r>
              <a:rPr lang="en-US" sz="2699">
                <a:solidFill>
                  <a:srgbClr val="000000"/>
                </a:solidFill>
                <a:latin typeface="Georgia Pro"/>
                <a:ea typeface="Georgia Pro"/>
                <a:cs typeface="Georgia Pro"/>
                <a:sym typeface="Georgia Pro"/>
              </a:rPr>
              <a:t> Mango leaf deficiency detection using image processing and ML, </a:t>
            </a:r>
            <a:r>
              <a:rPr lang="en-US" sz="2699" b="1">
                <a:solidFill>
                  <a:srgbClr val="000000"/>
                </a:solidFill>
                <a:latin typeface="Georgia Pro Bold"/>
                <a:ea typeface="Georgia Pro Bold"/>
                <a:cs typeface="Georgia Pro Bold"/>
                <a:sym typeface="Georgia Pro Bold"/>
              </a:rPr>
              <a:t>I2CT</a:t>
            </a:r>
            <a:r>
              <a:rPr lang="en-US" sz="2699">
                <a:solidFill>
                  <a:srgbClr val="000000"/>
                </a:solidFill>
                <a:latin typeface="Georgia Pro"/>
                <a:ea typeface="Georgia Pro"/>
                <a:cs typeface="Georgia Pro"/>
                <a:sym typeface="Georgia Pro"/>
              </a:rPr>
              <a:t>, Pune, India, 2018.</a:t>
            </a:r>
          </a:p>
          <a:p>
            <a:pPr algn="l">
              <a:lnSpc>
                <a:spcPts val="3779"/>
              </a:lnSpc>
              <a:spcBef>
                <a:spcPct val="0"/>
              </a:spcBef>
            </a:pPr>
            <a:r>
              <a:rPr lang="en-US" sz="2699">
                <a:solidFill>
                  <a:srgbClr val="000000"/>
                </a:solidFill>
                <a:latin typeface="Georgia Pro"/>
                <a:ea typeface="Georgia Pro"/>
                <a:cs typeface="Georgia Pro"/>
                <a:sym typeface="Georgia Pro"/>
              </a:rPr>
              <a:t> DOI: </a:t>
            </a:r>
            <a:r>
              <a:rPr lang="en-US" sz="2699" u="sng">
                <a:solidFill>
                  <a:srgbClr val="000000"/>
                </a:solidFill>
                <a:latin typeface="Georgia Pro"/>
                <a:ea typeface="Georgia Pro"/>
                <a:cs typeface="Georgia Pro"/>
                <a:sym typeface="Georgia Pro"/>
                <a:hlinkClick r:id="rId2" tooltip="https://doi.org/10.1109/I2CT.2018.8529755"/>
              </a:rPr>
              <a:t>https://doi.org/10.1109/I2CT.2018.8529755</a:t>
            </a:r>
          </a:p>
          <a:p>
            <a:pPr algn="l">
              <a:lnSpc>
                <a:spcPts val="3779"/>
              </a:lnSpc>
              <a:spcBef>
                <a:spcPct val="0"/>
              </a:spcBef>
            </a:pPr>
            <a:r>
              <a:rPr lang="en-US" sz="2699">
                <a:solidFill>
                  <a:srgbClr val="000000"/>
                </a:solidFill>
                <a:latin typeface="Georgia Pro"/>
                <a:ea typeface="Georgia Pro"/>
                <a:cs typeface="Georgia Pro"/>
                <a:sym typeface="Georgia Pro"/>
              </a:rPr>
              <a:t>[2] </a:t>
            </a:r>
            <a:r>
              <a:rPr lang="en-US" sz="2699" b="1">
                <a:solidFill>
                  <a:srgbClr val="000000"/>
                </a:solidFill>
                <a:latin typeface="Georgia Pro Bold"/>
                <a:ea typeface="Georgia Pro Bold"/>
                <a:cs typeface="Georgia Pro Bold"/>
                <a:sym typeface="Georgia Pro Bold"/>
              </a:rPr>
              <a:t>S. Arivazhagan and S. V. Ligi</a:t>
            </a:r>
            <a:r>
              <a:rPr lang="en-US" sz="2699">
                <a:solidFill>
                  <a:srgbClr val="000000"/>
                </a:solidFill>
                <a:latin typeface="Georgia Pro"/>
                <a:ea typeface="Georgia Pro"/>
                <a:cs typeface="Georgia Pro"/>
                <a:sym typeface="Georgia Pro"/>
              </a:rPr>
              <a:t>, Mango leaf disease identification using CNN, Int. J. Pure Appl. Math., 2018.</a:t>
            </a:r>
          </a:p>
          <a:p>
            <a:pPr algn="l">
              <a:lnSpc>
                <a:spcPts val="3779"/>
              </a:lnSpc>
              <a:spcBef>
                <a:spcPct val="0"/>
              </a:spcBef>
            </a:pPr>
            <a:r>
              <a:rPr lang="en-US" sz="2699">
                <a:solidFill>
                  <a:srgbClr val="000000"/>
                </a:solidFill>
                <a:latin typeface="Georgia Pro"/>
                <a:ea typeface="Georgia Pro"/>
                <a:cs typeface="Georgia Pro"/>
                <a:sym typeface="Georgia Pro"/>
              </a:rPr>
              <a:t> Link:</a:t>
            </a:r>
            <a:r>
              <a:rPr lang="en-US" sz="2699" u="sng">
                <a:solidFill>
                  <a:srgbClr val="000000"/>
                </a:solidFill>
                <a:latin typeface="Georgia Pro"/>
                <a:ea typeface="Georgia Pro"/>
                <a:cs typeface="Georgia Pro"/>
                <a:sym typeface="Georgia Pro"/>
                <a:hlinkClick r:id="rId3" tooltip="https://www.academia.edu/download/76332505/731.pdf"/>
              </a:rPr>
              <a:t> https://www.academia.edu/download/76332505/731.pdf</a:t>
            </a:r>
          </a:p>
          <a:p>
            <a:pPr algn="l">
              <a:lnSpc>
                <a:spcPts val="3779"/>
              </a:lnSpc>
              <a:spcBef>
                <a:spcPct val="0"/>
              </a:spcBef>
            </a:pPr>
            <a:r>
              <a:rPr lang="en-US" sz="2699">
                <a:solidFill>
                  <a:srgbClr val="000000"/>
                </a:solidFill>
                <a:latin typeface="Georgia Pro"/>
                <a:ea typeface="Georgia Pro"/>
                <a:cs typeface="Georgia Pro"/>
                <a:sym typeface="Georgia Pro"/>
              </a:rPr>
              <a:t>[3] </a:t>
            </a:r>
            <a:r>
              <a:rPr lang="en-US" sz="2699" b="1">
                <a:solidFill>
                  <a:srgbClr val="000000"/>
                </a:solidFill>
                <a:latin typeface="Georgia Pro Bold"/>
                <a:ea typeface="Georgia Pro Bold"/>
                <a:cs typeface="Georgia Pro Bold"/>
                <a:sym typeface="Georgia Pro Bold"/>
              </a:rPr>
              <a:t>M. R. Mia et al.,</a:t>
            </a:r>
            <a:r>
              <a:rPr lang="en-US" sz="2699">
                <a:solidFill>
                  <a:srgbClr val="000000"/>
                </a:solidFill>
                <a:latin typeface="Georgia Pro"/>
                <a:ea typeface="Georgia Pro"/>
                <a:cs typeface="Georgia Pro"/>
                <a:sym typeface="Georgia Pro"/>
              </a:rPr>
              <a:t> Mango leaf disease recognition using NN and SVM, Iran J. Comput. Sci., 2020.</a:t>
            </a:r>
          </a:p>
          <a:p>
            <a:pPr algn="l">
              <a:lnSpc>
                <a:spcPts val="3779"/>
              </a:lnSpc>
              <a:spcBef>
                <a:spcPct val="0"/>
              </a:spcBef>
            </a:pPr>
            <a:r>
              <a:rPr lang="en-US" sz="2699">
                <a:solidFill>
                  <a:srgbClr val="000000"/>
                </a:solidFill>
                <a:latin typeface="Georgia Pro"/>
                <a:ea typeface="Georgia Pro"/>
                <a:cs typeface="Georgia Pro"/>
                <a:sym typeface="Georgia Pro"/>
              </a:rPr>
              <a:t> DOI:</a:t>
            </a:r>
            <a:r>
              <a:rPr lang="en-US" sz="2699" u="sng">
                <a:solidFill>
                  <a:srgbClr val="000000"/>
                </a:solidFill>
                <a:latin typeface="Georgia Pro"/>
                <a:ea typeface="Georgia Pro"/>
                <a:cs typeface="Georgia Pro"/>
                <a:sym typeface="Georgia Pro"/>
                <a:hlinkClick r:id="rId4" tooltip="https://doi.org/10.1007/s42044-020-00057-z"/>
              </a:rPr>
              <a:t> https://doi.org/10.1007/s42044-020-00057-z</a:t>
            </a:r>
          </a:p>
          <a:p>
            <a:pPr algn="l">
              <a:lnSpc>
                <a:spcPts val="3779"/>
              </a:lnSpc>
              <a:spcBef>
                <a:spcPct val="0"/>
              </a:spcBef>
            </a:pPr>
            <a:r>
              <a:rPr lang="en-US" sz="2699">
                <a:solidFill>
                  <a:srgbClr val="000000"/>
                </a:solidFill>
                <a:latin typeface="Georgia Pro"/>
                <a:ea typeface="Georgia Pro"/>
                <a:cs typeface="Georgia Pro"/>
                <a:sym typeface="Georgia Pro"/>
              </a:rPr>
              <a:t>[4] </a:t>
            </a:r>
            <a:r>
              <a:rPr lang="en-US" sz="2699" b="1">
                <a:solidFill>
                  <a:srgbClr val="000000"/>
                </a:solidFill>
                <a:latin typeface="Georgia Pro Bold"/>
                <a:ea typeface="Georgia Pro Bold"/>
                <a:cs typeface="Georgia Pro Bold"/>
                <a:sym typeface="Georgia Pro Bold"/>
              </a:rPr>
              <a:t>S. Govindarajan et al.,</a:t>
            </a:r>
            <a:r>
              <a:rPr lang="en-US" sz="2699">
                <a:solidFill>
                  <a:srgbClr val="000000"/>
                </a:solidFill>
                <a:latin typeface="Georgia Pro"/>
                <a:ea typeface="Georgia Pro"/>
                <a:cs typeface="Georgia Pro"/>
                <a:sym typeface="Georgia Pro"/>
              </a:rPr>
              <a:t> Plant leaf disease classification using DenseNet-121,</a:t>
            </a:r>
            <a:r>
              <a:rPr lang="en-US" sz="2699" b="1">
                <a:solidFill>
                  <a:srgbClr val="000000"/>
                </a:solidFill>
                <a:latin typeface="Georgia Pro Bold"/>
                <a:ea typeface="Georgia Pro Bold"/>
                <a:cs typeface="Georgia Pro Bold"/>
                <a:sym typeface="Georgia Pro Bold"/>
              </a:rPr>
              <a:t> ICACCS</a:t>
            </a:r>
            <a:r>
              <a:rPr lang="en-US" sz="2699">
                <a:solidFill>
                  <a:srgbClr val="000000"/>
                </a:solidFill>
                <a:latin typeface="Georgia Pro"/>
                <a:ea typeface="Georgia Pro"/>
                <a:cs typeface="Georgia Pro"/>
                <a:sym typeface="Georgia Pro"/>
              </a:rPr>
              <a:t>, 2020. Link:</a:t>
            </a:r>
            <a:r>
              <a:rPr lang="en-US" sz="2699" u="sng">
                <a:solidFill>
                  <a:srgbClr val="000000"/>
                </a:solidFill>
                <a:latin typeface="Georgia Pro"/>
                <a:ea typeface="Georgia Pro"/>
                <a:cs typeface="Georgia Pro"/>
                <a:sym typeface="Georgia Pro"/>
                <a:hlinkClick r:id="rId5" tooltip="https://www.academia.edu/49045897/MULTIPLE_PLANT_LEAF_DISEASE_CLASSIFICATION_USING_DENSENET_121_ARCHITECTURE"/>
              </a:rPr>
              <a:t>https://www.academia.edu/49045897/MULTIPLE_PLANT_LEAF_DISEASE_CLASSIFICATION_USING_DENSENET_121_ARCHITECTURE </a:t>
            </a:r>
          </a:p>
          <a:p>
            <a:pPr algn="l">
              <a:lnSpc>
                <a:spcPts val="3779"/>
              </a:lnSpc>
              <a:spcBef>
                <a:spcPct val="0"/>
              </a:spcBef>
            </a:pPr>
            <a:r>
              <a:rPr lang="en-US" sz="2699">
                <a:solidFill>
                  <a:srgbClr val="000000"/>
                </a:solidFill>
                <a:latin typeface="Georgia Pro"/>
                <a:ea typeface="Georgia Pro"/>
                <a:cs typeface="Georgia Pro"/>
                <a:sym typeface="Georgia Pro"/>
              </a:rPr>
              <a:t>[5] </a:t>
            </a:r>
            <a:r>
              <a:rPr lang="en-US" sz="2699" b="1">
                <a:solidFill>
                  <a:srgbClr val="000000"/>
                </a:solidFill>
                <a:latin typeface="Georgia Pro Bold"/>
                <a:ea typeface="Georgia Pro Bold"/>
                <a:cs typeface="Georgia Pro Bold"/>
                <a:sym typeface="Georgia Pro Bold"/>
              </a:rPr>
              <a:t>M. T. Islam et al., MangoLeafDB</a:t>
            </a:r>
            <a:r>
              <a:rPr lang="en-US" sz="2699">
                <a:solidFill>
                  <a:srgbClr val="000000"/>
                </a:solidFill>
                <a:latin typeface="Georgia Pro"/>
                <a:ea typeface="Georgia Pro"/>
                <a:cs typeface="Georgia Pro"/>
                <a:sym typeface="Georgia Pro"/>
              </a:rPr>
              <a:t>: Dataset for mango leaf disease classification, Mendeley Data, 2024.</a:t>
            </a:r>
          </a:p>
          <a:p>
            <a:pPr algn="l">
              <a:lnSpc>
                <a:spcPts val="3779"/>
              </a:lnSpc>
              <a:spcBef>
                <a:spcPct val="0"/>
              </a:spcBef>
            </a:pPr>
            <a:r>
              <a:rPr lang="en-US" sz="2699">
                <a:solidFill>
                  <a:srgbClr val="000000"/>
                </a:solidFill>
                <a:latin typeface="Georgia Pro"/>
                <a:ea typeface="Georgia Pro"/>
                <a:cs typeface="Georgia Pro"/>
                <a:sym typeface="Georgia Pro"/>
              </a:rPr>
              <a:t> DOI:</a:t>
            </a:r>
            <a:r>
              <a:rPr lang="en-US" sz="2699" u="sng">
                <a:solidFill>
                  <a:srgbClr val="000000"/>
                </a:solidFill>
                <a:latin typeface="Georgia Pro"/>
                <a:ea typeface="Georgia Pro"/>
                <a:cs typeface="Georgia Pro"/>
                <a:sym typeface="Georgia Pro"/>
                <a:hlinkClick r:id="rId6" tooltip="https://doi.org/10.17632/7ghdbftp54.1"/>
              </a:rPr>
              <a:t> https://doi.org/10.17632/7ghdbftp54.1</a:t>
            </a:r>
          </a:p>
          <a:p>
            <a:pPr algn="l">
              <a:lnSpc>
                <a:spcPts val="3779"/>
              </a:lnSpc>
              <a:spcBef>
                <a:spcPct val="0"/>
              </a:spcBef>
            </a:pPr>
            <a:r>
              <a:rPr lang="en-US" sz="2699">
                <a:solidFill>
                  <a:srgbClr val="000000"/>
                </a:solidFill>
                <a:latin typeface="Georgia Pro"/>
                <a:ea typeface="Georgia Pro"/>
                <a:cs typeface="Georgia Pro"/>
                <a:sym typeface="Georgia Pro"/>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02135" y="459202"/>
            <a:ext cx="2171730" cy="2205796"/>
            <a:chOff x="0" y="0"/>
            <a:chExt cx="812800" cy="825500"/>
          </a:xfrm>
        </p:grpSpPr>
        <p:sp>
          <p:nvSpPr>
            <p:cNvPr id="3" name="Freeform 3"/>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D4AF37"/>
            </a:solidFill>
          </p:spPr>
        </p:sp>
        <p:sp>
          <p:nvSpPr>
            <p:cNvPr id="4" name="TextBox 4"/>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5" name="TextBox 5"/>
          <p:cNvSpPr txBox="1"/>
          <p:nvPr/>
        </p:nvSpPr>
        <p:spPr>
          <a:xfrm>
            <a:off x="4114800" y="3848100"/>
            <a:ext cx="9392784" cy="1872307"/>
          </a:xfrm>
          <a:prstGeom prst="rect">
            <a:avLst/>
          </a:prstGeom>
        </p:spPr>
        <p:txBody>
          <a:bodyPr wrap="square" lIns="0" tIns="0" rIns="0" bIns="0" rtlCol="0" anchor="t">
            <a:spAutoFit/>
          </a:bodyPr>
          <a:lstStyle/>
          <a:p>
            <a:pPr algn="ctr">
              <a:lnSpc>
                <a:spcPts val="14579"/>
              </a:lnSpc>
              <a:spcBef>
                <a:spcPct val="0"/>
              </a:spcBef>
            </a:pPr>
            <a:r>
              <a:rPr lang="en-US" sz="13253" dirty="0">
                <a:solidFill>
                  <a:srgbClr val="134624"/>
                </a:solidFill>
                <a:latin typeface="Georgia Pro"/>
                <a:ea typeface="Georgia Pro"/>
                <a:cs typeface="Georgia Pro"/>
                <a:sym typeface="Georgia Pr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828</Words>
  <Application>Microsoft Office PowerPoint</Application>
  <PresentationFormat>Custom</PresentationFormat>
  <Paragraphs>73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DM Sans Bold</vt:lpstr>
      <vt:lpstr>Georgia Pro Bold</vt:lpstr>
      <vt:lpstr>Georgia Pro</vt:lpstr>
      <vt:lpstr>Arial</vt:lpstr>
      <vt:lpstr>DM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Review-1</dc:title>
  <dc:description>Presentation - Mango Leaf Diseases</dc:description>
  <cp:lastModifiedBy>23102C010036</cp:lastModifiedBy>
  <cp:revision>4</cp:revision>
  <dcterms:created xsi:type="dcterms:W3CDTF">2006-08-16T00:00:00Z</dcterms:created>
  <dcterms:modified xsi:type="dcterms:W3CDTF">2026-02-12T13:53:31Z</dcterms:modified>
  <dc:identifier>DAG5zscfdGk</dc:identifier>
</cp:coreProperties>
</file>